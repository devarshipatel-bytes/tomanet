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jpeg" ContentType="image/jpeg"/>
  <Override PartName="/ppt/media/image4.png" ContentType="image/png"/>
  <Override PartName="/ppt/media/image3.png" ContentType="image/png"/>
  <Override PartName="/ppt/slides/_rels/slide27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28.xml.rels" ContentType="application/vnd.openxmlformats-package.relationships+xml"/>
  <Override PartName="/ppt/slides/_rels/slide30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29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1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slide29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2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30.xml" ContentType="application/vnd.openxmlformats-officedocument.presentationml.slide+xml"/>
  <Override PartName="/ppt/slides/slide28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0.xml.rels" ContentType="application/vnd.openxmlformats-package.relationships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282" r:id="rId40"/>
    <p:sldId id="283" r:id="rId41"/>
    <p:sldId id="284" r:id="rId42"/>
    <p:sldId id="285" r:id="rId4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Relationship Id="rId38" Type="http://schemas.openxmlformats.org/officeDocument/2006/relationships/slide" Target="slides/slide25.xml"/><Relationship Id="rId39" Type="http://schemas.openxmlformats.org/officeDocument/2006/relationships/slide" Target="slides/slide26.xml"/><Relationship Id="rId40" Type="http://schemas.openxmlformats.org/officeDocument/2006/relationships/slide" Target="slides/slide27.xml"/><Relationship Id="rId41" Type="http://schemas.openxmlformats.org/officeDocument/2006/relationships/slide" Target="slides/slide28.xml"/><Relationship Id="rId42" Type="http://schemas.openxmlformats.org/officeDocument/2006/relationships/slide" Target="slides/slide29.xml"/><Relationship Id="rId43" Type="http://schemas.openxmlformats.org/officeDocument/2006/relationships/slide" Target="slides/slide30.xml"/><Relationship Id="rId4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3E3A77C4-216E-4CEF-82E4-4D230859A370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3F57628-F310-47CE-9CF6-20133E83F4BB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5A921B8-E3FB-4DB9-9576-F9E380D5B3F7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9316E71-4D4E-4B24-988E-D1BE4428AA80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7472ADE-137D-4410-927D-0B2096F90B4A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FDA0488-2F77-4986-B823-4D17621CDA7A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F2D7BA5-D769-43B3-95C0-5CF01175FB0F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C2A1C79-5C9F-4A86-9529-75B69C5CAAA4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0BBE3E-3172-4943-A199-EF09DCE7ADA9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A175DF3-64BD-4E2C-AD16-B4D1594A6DA4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17CD877-6D08-42C7-AFD5-92A53B5A91B4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F25EAF-AA3F-4260-94F7-C3FCA15F86AF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E15500-CD25-4DC2-9048-80EFCDCEC30E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9151050-999F-4BEC-ACF3-37111803C183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1FB78CC-1288-499D-B0A5-07B03154AED1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E34DE4-A2C5-4004-A0B3-33D22F0288A8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IN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EF41B3-84DC-48BA-9D14-4E46923E5B1D}" type="slidenum">
              <a:rPr b="0" lang="en-IN" sz="12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789CAF-402F-41E0-BB04-3CA011C536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6640F5-7FF9-4762-B226-FF4C486D9F2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12202E86-251D-428D-BFF1-FD614679031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524C7EF-F865-4C7D-85B0-18A97C76AE3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9614D72-3D06-4700-A98F-DE298E05A3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7AD1B650-E675-4C94-B98A-1A4C8A5050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9CDC9168-0A4F-415D-82C6-D88214DE93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BE0EB94-5E17-448E-9E74-780CC69EBF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38E1F3B-066A-4F71-824E-67F3045A34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E4D42AB-7813-4411-A097-6D5C1644A5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55D9517-33AE-4065-A078-7E4AA3A9CA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edit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Master </a:t>
            </a: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2B073F-9F55-4BEE-9773-271970A8819B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93E670-4629-4057-B01B-5F3518645B48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D22C64-A954-4FE0-A10F-D96275A570AB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623876-309B-42BB-84C0-1370E96E69EA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D68A95-7CD0-4F9E-9238-108FFBE84D26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0EF547-64FA-4309-B6BE-FDF1FB0D728C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74B754-F758-4A0C-9A96-EB3359D4BF17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57310C-8940-4519-9ECE-56FF97E51DD0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440F74-379B-44BA-87BA-EC515B9E4250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950C51-458D-4D04-B94D-182D538D64E4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Calibri Light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1EDD8A-3E4F-419C-A757-D4F7112513D7}" type="slidenum">
              <a:rPr b="0" lang="en-IN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4800" spc="-1" strike="noStrike">
                <a:solidFill>
                  <a:schemeClr val="dk1"/>
                </a:solidFill>
                <a:latin typeface="Times New Roman"/>
              </a:rPr>
              <a:t>Introduction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</a:rPr>
              <a:t>Tomato (</a:t>
            </a:r>
            <a:r>
              <a:rPr b="1" i="1" lang="en-IN" sz="1800" spc="-1" strike="noStrike">
                <a:solidFill>
                  <a:schemeClr val="dk1"/>
                </a:solidFill>
                <a:latin typeface="Times New Roman"/>
              </a:rPr>
              <a:t>Solanum lycopersicum</a:t>
            </a:r>
            <a:r>
              <a:rPr b="1" lang="en-IN" sz="1800" spc="-1" strike="noStrike">
                <a:solidFill>
                  <a:schemeClr val="dk1"/>
                </a:solidFill>
                <a:latin typeface="Times New Roman"/>
              </a:rPr>
              <a:t>)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 is one of the world's most important vegetable crops, with global production exceeding </a:t>
            </a:r>
            <a:r>
              <a:rPr b="1" lang="en-IN" sz="1800" spc="-1" strike="noStrike">
                <a:solidFill>
                  <a:schemeClr val="dk1"/>
                </a:solidFill>
                <a:latin typeface="Times New Roman"/>
              </a:rPr>
              <a:t>190 million tonnes annually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.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Tomato plants are affected by </a:t>
            </a:r>
            <a:r>
              <a:rPr b="1" lang="en-IN" sz="1800" spc="-1" strike="noStrike">
                <a:solidFill>
                  <a:schemeClr val="dk1"/>
                </a:solidFill>
                <a:latin typeface="Times New Roman"/>
              </a:rPr>
              <a:t>more than 200 diseases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, caused mainly by fungi, bacteria, viruses, and other pathogens.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Tomato diseases can cause </a:t>
            </a:r>
            <a:r>
              <a:rPr b="1" lang="en-IN" sz="1800" spc="-1" strike="noStrike">
                <a:solidFill>
                  <a:schemeClr val="dk1"/>
                </a:solidFill>
                <a:latin typeface="Times New Roman"/>
              </a:rPr>
              <a:t>20–80% yield losses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 in affected regions, depending on the disease and environmental conditions.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In India, </a:t>
            </a:r>
            <a:r>
              <a:rPr b="1" lang="en-IN" sz="1800" spc="-1" strike="noStrike">
                <a:solidFill>
                  <a:schemeClr val="dk1"/>
                </a:solidFill>
                <a:latin typeface="Times New Roman"/>
              </a:rPr>
              <a:t>Tomato Leaf Curl Virus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 is a major production constraint; severe outbreaks can result in </a:t>
            </a:r>
            <a:r>
              <a:rPr b="1" lang="en-IN" sz="1800" spc="-1" strike="noStrike">
                <a:solidFill>
                  <a:schemeClr val="dk1"/>
                </a:solidFill>
                <a:latin typeface="Times New Roman"/>
              </a:rPr>
              <a:t>40–100% yield loss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.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</a:rPr>
              <a:t>Traditional disease identification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 depends on expert visual inspection, which can be time-consuming, subjective, and difficult for early-stage symptoms.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1800" spc="-1" strike="noStrike">
                <a:solidFill>
                  <a:schemeClr val="dk1"/>
                </a:solidFill>
                <a:latin typeface="Times New Roman"/>
              </a:rPr>
              <a:t>AI and Machine Learning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, particularly </a:t>
            </a:r>
            <a:r>
              <a:rPr b="1" lang="en-IN" sz="1800" spc="-1" strike="noStrike">
                <a:solidFill>
                  <a:schemeClr val="dk1"/>
                </a:solidFill>
                <a:latin typeface="Times New Roman"/>
              </a:rPr>
              <a:t>Deep Learning/CNN models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, can automatically analyse leaf images and identify diseases rapidly and accurately. 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Therefore, </a:t>
            </a:r>
            <a:r>
              <a:rPr b="1" lang="en-IN" sz="1800" spc="-1" strike="noStrike">
                <a:solidFill>
                  <a:schemeClr val="dk1"/>
                </a:solidFill>
                <a:latin typeface="Times New Roman"/>
              </a:rPr>
              <a:t>AI-based tomato disease detection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 can support early diagnosis, reduce crop losses, improve disease management, and assist farmers in making timely decisions.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/>
          </p:nvPr>
        </p:nvSpPr>
        <p:spPr>
          <a:xfrm>
            <a:off x="653040" y="74520"/>
            <a:ext cx="10413000" cy="64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4800" spc="-1" strike="noStrike">
                <a:solidFill>
                  <a:schemeClr val="dk1"/>
                </a:solidFill>
                <a:latin typeface="Times New Roman"/>
              </a:rPr>
              <a:t>Literature Survey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75" name="Table 3"/>
          <p:cNvGraphicFramePr/>
          <p:nvPr/>
        </p:nvGraphicFramePr>
        <p:xfrm>
          <a:off x="653040" y="1290240"/>
          <a:ext cx="10840320" cy="4658040"/>
        </p:xfrm>
        <a:graphic>
          <a:graphicData uri="http://schemas.openxmlformats.org/drawingml/2006/table">
            <a:tbl>
              <a:tblPr/>
              <a:tblGrid>
                <a:gridCol w="1288800"/>
                <a:gridCol w="2531160"/>
                <a:gridCol w="1761480"/>
                <a:gridCol w="2052360"/>
                <a:gridCol w="3206160"/>
              </a:tblGrid>
              <a:tr h="47160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Author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Review of paper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Method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Dataset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Research observation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8300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Patrick Wspanialy and Medhat Moussa (2020)[1]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paper proposes a computer-vision-based system for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automatic detection of tomato diseases and estimation of disease severity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The main objective is to reduce dependence on manual disease scouting and expert assessment in greenhouse tomato production. The study also investigates whether a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generic disease model can recognize previously unseen tomato diseases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ResNet is uses for classification and disease detection. Modified U-net architecture uses for severity of disease.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PlantVillage tomato dataset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containing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 tomato disease classes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authors identified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dataset bias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particularly due to backgrounds, lighting, and image-capture conditions in PlantVillage. This indicates a need for more diverse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real greenhouse/field datasets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for robust deployment.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78300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Thuseethan et al. (2024)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Proposed a lightweight framework for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leaf disease recognition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especially for small and imbalanced datasets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Siamese Network + Lightweight CNN + Contrastive Loss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PlantVillage tomato subset: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14,531 images, 10 classes;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Taiwan dataset: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622 images, 6 classes.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Achieved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96.97% accuracy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on PlantVillage and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95.48%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on the Taiwan dataset. The lightweight model is suitable for resource-limited devices, but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real-field conditions and larger diverse datasets need further study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/>
          </p:nvPr>
        </p:nvSpPr>
        <p:spPr>
          <a:xfrm>
            <a:off x="574560" y="105120"/>
            <a:ext cx="10413000" cy="64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4800" spc="-1" strike="noStrike">
                <a:solidFill>
                  <a:schemeClr val="dk1"/>
                </a:solidFill>
                <a:latin typeface="Times New Roman"/>
              </a:rPr>
              <a:t>Literature Survey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77" name="Table 3"/>
          <p:cNvGraphicFramePr/>
          <p:nvPr/>
        </p:nvGraphicFramePr>
        <p:xfrm>
          <a:off x="574560" y="1107360"/>
          <a:ext cx="11157480" cy="4749840"/>
        </p:xfrm>
        <a:graphic>
          <a:graphicData uri="http://schemas.openxmlformats.org/drawingml/2006/table">
            <a:tbl>
              <a:tblPr/>
              <a:tblGrid>
                <a:gridCol w="1289160"/>
                <a:gridCol w="2159640"/>
                <a:gridCol w="2133000"/>
                <a:gridCol w="1440000"/>
                <a:gridCol w="4135680"/>
              </a:tblGrid>
              <a:tr h="47160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Author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Review of paper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Method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Dataset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Research observation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78300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Mangsura Kabir Oni &amp; Tabia Tanzin Prama (2025)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Proposed an automated system for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real-time tomato leaf disease detection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using deep learning.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Custom CNN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compared with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YOLOv5, MobileNetV2, and ResNet18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leaf images collected from Brahmanbaria, Bangladesh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with preprocessing and augmentation.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Custom CNN achieved 95.2% accuracy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outperforming YOLOv5 (77%), MobileNetV2 (89.38%), and ResNet18 (71.88%). The model shows good potential for real-time detection,.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9662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Huy-Tan Thai &amp; Kim-Hung Le (2025)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Proposed a lightweight system for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real-time leaf disease detection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suitable for smartphones and other resource-limited devices.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MobileH-Transformer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combining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CNN + Transformer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architectures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PlantVillage subset: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10,008 images, 11 disease classes; also a corn disease dataset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Achieved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96.80% F1-score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on the PlantVillage subset and up to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30.5 FPS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on mobile devices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74916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Asha Gowda Karegowda, Raksha Jain &amp; G. Devika (2021)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Proposed a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deep-learning-based tomato leaf disease detection system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with a farmer-friendly mobile application.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YOLO and Faster R-CNN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for detection, followed by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SVM and Random Forest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for classification.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leaf disease images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covering different disease conditions.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YOLO and Random Forest achieved about 90–95% accuracy.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This study is shows good detection performance, but further improvement is needed for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real-field images with varying lighting, backgrounds, and disease severity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/>
          </p:nvPr>
        </p:nvSpPr>
        <p:spPr>
          <a:xfrm>
            <a:off x="557640" y="144720"/>
            <a:ext cx="10413000" cy="648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4800" spc="-1" strike="noStrike">
                <a:solidFill>
                  <a:schemeClr val="dk1"/>
                </a:solidFill>
                <a:latin typeface="Times New Roman"/>
              </a:rPr>
              <a:t>Literature Survey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79" name="Table 3"/>
          <p:cNvGraphicFramePr/>
          <p:nvPr/>
        </p:nvGraphicFramePr>
        <p:xfrm>
          <a:off x="557640" y="1103400"/>
          <a:ext cx="11498040" cy="5147280"/>
        </p:xfrm>
        <a:graphic>
          <a:graphicData uri="http://schemas.openxmlformats.org/drawingml/2006/table">
            <a:tbl>
              <a:tblPr/>
              <a:tblGrid>
                <a:gridCol w="1369080"/>
                <a:gridCol w="2618280"/>
                <a:gridCol w="2358720"/>
                <a:gridCol w="1578960"/>
                <a:gridCol w="3572280"/>
              </a:tblGrid>
              <a:tr h="4777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Author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Review of paper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Method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Dataset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Research observation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92772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Hosen &amp; Islam (2025)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Proposed a deep-learning approach for automatic tomato leaf disease detection to support sustainable crop management.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VGG19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and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Inception V3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CNN models; preprocessing included resizing and normalization, with dropout and modified classification layers.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Villages Dataset – 4,525 images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models achieved promising disease-classification performance, with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93.93% accuracy using dropout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The study demonstrates the potential of deep learning for early tomato disease detection and precision agriculture.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5368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Anu, Solanki &amp; Dhankar (2023)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Proposed a multi-class deep learning system for automatic detection and classification of tomato leaf diseases.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mage preprocessing and segmentation using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thresholding, Gaussian blur, and Canny edge detection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followed by a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CNN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for feature extraction and classification. The study compared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ReLU and Leaky-ReLU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activation functions.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Approximately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10,000 tomato leaf images from the PlantVillage dataset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; 10 disease categories were considered.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Leaky-ReLU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architecture performed better than ReLU. Training accuracy was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95.08% with Leaky-ReLU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compared with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92.76% with ReLU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4720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Trivedi et al. (2021)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proposed an automated deep-learning approach for the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early detection and classification of tomato leaf diseases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with the aim of helping farmers identify diseases at an early stage.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Convolutional Neural Network (CNN)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with image preprocessing, segmentation, and hyperparameter optimization. CNN was used to extract features such as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color, texture, and edges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3,000 tomato leaf images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representing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 diseases and 1 healthy class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proposed CNN achieved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98.49% prediction accuracy.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/>
          </p:nvPr>
        </p:nvSpPr>
        <p:spPr>
          <a:xfrm>
            <a:off x="592920" y="330480"/>
            <a:ext cx="105152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chemeClr val="dk1"/>
                </a:solidFill>
                <a:latin typeface="Times New Roman"/>
              </a:rPr>
              <a:t>Literature Survey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81" name="Table 3"/>
          <p:cNvGraphicFramePr/>
          <p:nvPr/>
        </p:nvGraphicFramePr>
        <p:xfrm>
          <a:off x="698040" y="1352880"/>
          <a:ext cx="10775880" cy="4282920"/>
        </p:xfrm>
        <a:graphic>
          <a:graphicData uri="http://schemas.openxmlformats.org/drawingml/2006/table">
            <a:tbl>
              <a:tblPr/>
              <a:tblGrid>
                <a:gridCol w="1392840"/>
                <a:gridCol w="2412000"/>
                <a:gridCol w="2713680"/>
                <a:gridCol w="1398240"/>
                <a:gridCol w="2858760"/>
              </a:tblGrid>
              <a:tr h="36468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Author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Review of paper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Method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Dataset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Research Observation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5422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Nyasulu et al. (2023)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investigated machine-learning techniques for classifying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fungal leaf diseases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using texture information extracted from leaf images.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GLCM (Gray Level Co-occurrence Matrix)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was used to extract texture features. Four classifiers were compared: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Artificial Neural Network (ANN), K-Nearest Neighbors (KNN), Random Forest (RF), and Support Vector Machine (SVM)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leaf images representing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four fungal diseases: Alternaria, Curvularia, Helminthosporium, and Lasiodiplodia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ANN performed best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achieving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94% overall accuracy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with average precision The models showed some confusion between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Helminthosporium and Curvularia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indicating that these diseases have similar visual/texture characteristics.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15422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Chen et al. (2022)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developed an automated tomato leaf disease detection system using a modified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AlexNet-based CNN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with the objective of identifying tomato diseases through leaf images and deploying the model in an Android application.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Modified AlexNet CNN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Adam optimizer, data preprocessing and image classification. The model used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64 × 64 RGB images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and was integrated into an Android-based disease-recognition application.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22,930 images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: 18,345 training images and 4,585 testing images. The dataset contained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10 classes.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model achieved approximately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98% average accuracy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with precision of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0.98, recall of 0.99, and F1-score of 0.98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The study demonstrated that modified AlexNet can provide accurate tomato disease classification and can be implemented on a mobile platform.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592920" y="330480"/>
            <a:ext cx="105152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chemeClr val="dk1"/>
                </a:solidFill>
                <a:latin typeface="Times New Roman"/>
              </a:rPr>
              <a:t>Literature Survey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83" name="Table 3"/>
          <p:cNvGraphicFramePr/>
          <p:nvPr/>
        </p:nvGraphicFramePr>
        <p:xfrm>
          <a:off x="592920" y="1311480"/>
          <a:ext cx="10900440" cy="4453560"/>
        </p:xfrm>
        <a:graphic>
          <a:graphicData uri="http://schemas.openxmlformats.org/drawingml/2006/table">
            <a:tbl>
              <a:tblPr/>
              <a:tblGrid>
                <a:gridCol w="1409040"/>
                <a:gridCol w="2172600"/>
                <a:gridCol w="3051720"/>
                <a:gridCol w="1374480"/>
                <a:gridCol w="2891880"/>
              </a:tblGrid>
              <a:tr h="33876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Author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Review of paper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Method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Dataset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Research Observation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23768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Harakannanavar et al. (2022)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developed a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computer-vision and machine-learning-based system for plant leaf disease detection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It focuses on identifying disease symptoms from leaf images at an early stage.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used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image preprocessing, K-means clustering, contour tracing, DWT, PCA, and GLCM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for feature extraction.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SVM, K-NN, and CNN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were used for classification.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Plant leaf disease image dataset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including tomato leaf images. Images were resized to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256 × 256 pixels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and enhanced before processing.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CNN achieved the best performance (99.6% accuracy)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compared with K-NN and SVM. The study demonstrates that deep learning can provide highly accurate disease classification.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160992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Maeda-Gutiérrez et al. (2020)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compared different pre-trained CNN architectures to determine which model is most effective for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plant disease classification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Transfer learning/fine-tuning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using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AlexNet, GoogleNet, Inception V3, ResNet-18, and ResNet-50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The models were evaluated using accuracy, precision, sensitivity, specificity, F-score, AUC, and ROC analysis.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PlantVillage dataset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containing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18,160 tomato leaf images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representing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 disease classes and 1 healthy class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GoogleNet achieved the best overall performance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with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99.39% accuracy, 99.72% AUC, and 99.12% sensitivity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Inception V3 produced the lowest accuracy among the compared models at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98.65%.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/>
          </p:nvPr>
        </p:nvSpPr>
        <p:spPr>
          <a:xfrm>
            <a:off x="825840" y="255240"/>
            <a:ext cx="10515240" cy="48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15353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9200" spc="-1" strike="noStrike">
                <a:solidFill>
                  <a:schemeClr val="dk1"/>
                </a:solidFill>
                <a:latin typeface="Times New Roman"/>
              </a:rPr>
              <a:t>Literature Survey</a:t>
            </a:r>
            <a:endParaRPr b="0" lang="en-US" sz="19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85" name="Table 3"/>
          <p:cNvGraphicFramePr/>
          <p:nvPr/>
        </p:nvGraphicFramePr>
        <p:xfrm>
          <a:off x="825840" y="1127880"/>
          <a:ext cx="10515240" cy="5172480"/>
        </p:xfrm>
        <a:graphic>
          <a:graphicData uri="http://schemas.openxmlformats.org/drawingml/2006/table">
            <a:tbl>
              <a:tblPr/>
              <a:tblGrid>
                <a:gridCol w="1379160"/>
                <a:gridCol w="2801520"/>
                <a:gridCol w="1908360"/>
                <a:gridCol w="1788840"/>
                <a:gridCol w="2636640"/>
              </a:tblGrid>
              <a:tr h="33012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Author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Review of paper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Method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Dataset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Research Observation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5890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Hussein, A. H. A., Adnan, M. M., Hemalatha, K. L., Malathy, V., &amp; Rajesh, N. (2023)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proposed a deep-learning approach for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leaf disease detection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focusing on improving the model's ability to identify important disease features.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Convolutional Neural Network (CNN) with Coordinate Attention Mechanism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was used to improve feature extraction and disease classification.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leaf disease images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including healthy and diseased leaves.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he attention mechanism helps the CNN focus on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important disease regions and subtle symptoms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The approach shows potential for accurate tomato disease recognition.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15890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Abbas, A., Jain, S., Gour, M., &amp; Vankudothu, S. (2021)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proposed a deep-learning approach for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plant disease detection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and addressed the problem of limited training images by generating synthetic leaf images.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Conditional GAN (C-GAN)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was used to generate synthetic images, and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DenseNet121 with transfer learning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was used for disease classification.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PlantVillage tomato leaf dataset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classified into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5, 7, and 10 disease classes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model achieved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99.51% accuracy for 5 classes, 98.65% for 7 classes, and 97.11% for 10 classes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C-GAN-based augmentation improved model generalization.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5890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Ahmed, S., Hasan, M. B., Ahmed, T., Sony, M. R. K., &amp; Kabir, M. H. (2022)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proposed a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lightweight and fast deep-learning model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for tomato leaf disease classification, especially for use on low-end devices.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MobileNetV2 with transfer learning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CLAHE-based image enhancement, and runtime data augmentation.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PlantVillage tomato dataset: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18,160 images covering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10 classes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(9 diseases + healthy).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model achieved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99.30% accuracy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with only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9.60 MB model size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and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4.87 million FLOPs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making it suitable for resource-limited devices..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/>
          </p:nvPr>
        </p:nvSpPr>
        <p:spPr>
          <a:xfrm>
            <a:off x="658440" y="255240"/>
            <a:ext cx="10515240" cy="48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15353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9200" spc="-1" strike="noStrike">
                <a:solidFill>
                  <a:schemeClr val="dk1"/>
                </a:solidFill>
                <a:latin typeface="Times New Roman"/>
              </a:rPr>
              <a:t>Literature Survey</a:t>
            </a:r>
            <a:endParaRPr b="0" lang="en-US" sz="19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87" name="Table 3"/>
          <p:cNvGraphicFramePr/>
          <p:nvPr/>
        </p:nvGraphicFramePr>
        <p:xfrm>
          <a:off x="658440" y="875520"/>
          <a:ext cx="11270880" cy="5444280"/>
        </p:xfrm>
        <a:graphic>
          <a:graphicData uri="http://schemas.openxmlformats.org/drawingml/2006/table">
            <a:tbl>
              <a:tblPr/>
              <a:tblGrid>
                <a:gridCol w="1744560"/>
                <a:gridCol w="3071160"/>
                <a:gridCol w="2174760"/>
                <a:gridCol w="2053800"/>
                <a:gridCol w="2225880"/>
              </a:tblGrid>
              <a:tr h="33012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Author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Review of paper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Method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Dataset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Research Observation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5890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Ala’a R. Al-Shamasneh &amp; Rabha W. Ibrahim (2024)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proposed a new image-processing approach for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leaf disease detection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using texture information from leaf images.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Conformable Polynomials (CP)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for texture feature extraction, followed by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dimension reduction and SVM classification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PlantVillage tomato leaf dataset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with about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18,200 images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from different classes.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proposed method achieved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98.80% accuracy using SVM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It effectively captured texture differences between healthy and infected leaves..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15890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Li, D., Yin, Z., Wu, Z., &amp; Liu, Q. (2021)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proposed a deep-learning model for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disease classification with imbalanced samples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where some disease classes contain fewer images than others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TD-MobileNetV2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a modified lightweight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MobileNetV2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designed to improve classification performance on imbalanced tomato disease datasets.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disease dataset: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1,890 images covering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3 disease classes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model achieved approximately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97.33% accuracy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while maintaining a lightweight architecture. The study demonstrates that MobileNetV2 can effectively handle imbalanced tomato disease samples.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5890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Shoaib, M., Hussain, T., Shah, B., Ullah, I., Shah, S. M., Ali, F., &amp; Park, S. H. (2022)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developed a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deep-learning-based system for tomato disease detection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by first separating the leaf region from the background and then classifying healthy and diseased leaves.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Modified U-Net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was used for leaf segmentation, while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InceptionNet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was used for disease classification.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PlantVillage tomato dataset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containing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18,161 tomato leaf images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with segmented and non-segmented images.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Modified U-Net achieved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98.66% segmentation accuracy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while InceptionNet achieved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99.95% accuracy for binary classification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and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99.12% for six-class classification.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/>
          </p:nvPr>
        </p:nvSpPr>
        <p:spPr>
          <a:xfrm>
            <a:off x="658440" y="255240"/>
            <a:ext cx="10515240" cy="48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15353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9200" spc="-1" strike="noStrike">
                <a:solidFill>
                  <a:schemeClr val="dk1"/>
                </a:solidFill>
                <a:latin typeface="Times New Roman"/>
              </a:rPr>
              <a:t>Literature Survey</a:t>
            </a:r>
            <a:endParaRPr b="0" lang="en-US" sz="19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89" name="Table 3"/>
          <p:cNvGraphicFramePr/>
          <p:nvPr/>
        </p:nvGraphicFramePr>
        <p:xfrm>
          <a:off x="658440" y="1185120"/>
          <a:ext cx="11065320" cy="5173200"/>
        </p:xfrm>
        <a:graphic>
          <a:graphicData uri="http://schemas.openxmlformats.org/drawingml/2006/table">
            <a:tbl>
              <a:tblPr/>
              <a:tblGrid>
                <a:gridCol w="1658880"/>
                <a:gridCol w="2886120"/>
                <a:gridCol w="2043720"/>
                <a:gridCol w="1930320"/>
                <a:gridCol w="2545560"/>
              </a:tblGrid>
              <a:tr h="41508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Author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Review of paper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Method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Dataset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Research Observation</a:t>
                      </a:r>
                      <a:endParaRPr b="0" lang="en-US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253008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Gangwar, A., Dhaka, V. S., Rani, G., Khandelwal, S., Zumpano, E., &amp; Vocaturo, E. (2024)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developed a </a:t>
                      </a: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time- and space-efficient deep-learning model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for detecting tomato leaf diseases under </a:t>
                      </a: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plain and complex/varied backgrounds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Proposed </a:t>
                      </a: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Swift-Lite-CvT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a customized </a:t>
                      </a: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Convolution Vision Transformer (CvT)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combining ideas from VGG16, ViT, and CvT.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leaf image dataset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with experiments on </a:t>
                      </a: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10, 11, and 13 disease classes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including images with varied backgrounds.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proposed model achieved </a:t>
                      </a: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93.51% accuracy for 13 classes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with only </a:t>
                      </a: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5.8 MB storage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and </a:t>
                      </a: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44 minutes training time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It is suitable for </a:t>
                      </a: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mobile, IoT and drone-based applications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222768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Karim, M. J., Goni, M. O. F., Nahiduzzaman, M., Ahsan, M., Haider, J., &amp; Kowalski, M. (2024)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developed a </a:t>
                      </a: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real-time grape leaf disease classification system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designed for low-resource edge devices.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Modified MobileNetV3Large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with transfer learning and </a:t>
                      </a: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Grad-CAM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for visual explanation.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Grapevine Disease Dataset:</a:t>
                      </a: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9,027 images, 4 classes—black rot, ESCA, healthy, and leaf blight.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6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lightweight edge-AI approach can be adapted to tomato disease detection.</a:t>
                      </a:r>
                      <a:endParaRPr b="0" lang="en-US" sz="16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/>
          </p:nvPr>
        </p:nvSpPr>
        <p:spPr>
          <a:xfrm>
            <a:off x="658440" y="255240"/>
            <a:ext cx="10515240" cy="48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15353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9200" spc="-1" strike="noStrike">
                <a:solidFill>
                  <a:schemeClr val="dk1"/>
                </a:solidFill>
                <a:latin typeface="Times New Roman"/>
              </a:rPr>
              <a:t>Literature Survey</a:t>
            </a:r>
            <a:endParaRPr b="0" lang="en-US" sz="192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91" name="Table 3"/>
          <p:cNvGraphicFramePr/>
          <p:nvPr/>
        </p:nvGraphicFramePr>
        <p:xfrm>
          <a:off x="658440" y="955440"/>
          <a:ext cx="11004480" cy="5087160"/>
        </p:xfrm>
        <a:graphic>
          <a:graphicData uri="http://schemas.openxmlformats.org/drawingml/2006/table">
            <a:tbl>
              <a:tblPr/>
              <a:tblGrid>
                <a:gridCol w="1633320"/>
                <a:gridCol w="2350440"/>
                <a:gridCol w="2911680"/>
                <a:gridCol w="1842840"/>
                <a:gridCol w="2265840"/>
              </a:tblGrid>
              <a:tr h="19080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Author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Review of paper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Method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Dataset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US" sz="1400" spc="-1" strike="noStrike">
                          <a:solidFill>
                            <a:schemeClr val="lt1"/>
                          </a:solidFill>
                          <a:latin typeface="Times New Roman"/>
                        </a:rPr>
                        <a:t>Research Observation</a:t>
                      </a:r>
                      <a:endParaRPr b="0" lang="en-US" sz="14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14702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Masud, K. I., Rahman, M. M., Jannat, M. R., Hasan, M. M., Islam, M. S., &amp; Rahman, M. O. (2024)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proposed a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CNN-based transfer-learning model for detecting and classifying tomato leaf diseases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The aim was to improve automatic disease identification and support early disease management.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Convolutional Neural Network (CNN) with Transfer Learning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was used for feature extraction and classification of tomato leaf diseases.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leaf disease image dataset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containing healthy and diseased tomato leaves.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demonstrated that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transfer learning can effectively classify tomato leaf diseases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while reducing training requirements.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14702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Hatice Catal Reis (2024)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proposed an advanced framework for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automatic tomato leaf disease detection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focusing on healthy leaves, early blight, and late blight.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fusion of deep learning and meta-learning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combining CNN, Transformer, and MLP models with a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Voting Classifier (VtC)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Models included DenseNet201, CoAtNet, FasterNet, FastViT and WaveMLP.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CLAHE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was also used for image enhancement.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Tomato leaf image dataset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containing three classes: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healthy, early blight, and late blight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The test set contained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900 images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proposed hybrid framework misclassified only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4 of 900 images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when CLAHE-enhanced images were used, giving approximately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99.56% accuracy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 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14702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Junare, C. B., Ghanokar, V. S., Khandare, R. M., Koche, S. P., &amp; Pagrut, S. B. (2024)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proposed an automated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plant leaf disease detection system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to identify and localize diseased regions in leaf images.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Mask R-CNN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was used for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object detection and instance segmentation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 allowing the diseased regions to be identified at pixel level.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A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self-created dataset of healthy and diseased plant leaf images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was collected from different angles and scenes and resized to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1024 × 1024 pixels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The study showed that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Mask R-CNN can accurately identify and locate diseased regions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 on plant leaves. However, the work is </a:t>
                      </a: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not specifically focused on tomato</a:t>
                      </a: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,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533520" y="374760"/>
            <a:ext cx="10058040" cy="145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Times New Roman"/>
              </a:rPr>
              <a:t> </a:t>
            </a:r>
            <a:r>
              <a:rPr b="0" lang="en-US" sz="4800" spc="-1" strike="noStrike">
                <a:solidFill>
                  <a:schemeClr val="dk1"/>
                </a:solidFill>
                <a:latin typeface="Times New Roman"/>
              </a:rPr>
              <a:t>Research Gap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77680" y="1766160"/>
            <a:ext cx="10515240" cy="4043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The detection of tomato plant diseases is influenced by </a:t>
            </a:r>
            <a:r>
              <a:rPr b="1" lang="en-US" sz="1600" spc="-1" strike="noStrike">
                <a:solidFill>
                  <a:schemeClr val="dk1"/>
                </a:solidFill>
                <a:latin typeface="Times New Roman"/>
              </a:rPr>
              <a:t>both biotic and abiotic factor.</a:t>
            </a: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[1][11][12].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Times New Roman"/>
              </a:rPr>
              <a:t>Limited Handling of Imbalanced Datasets</a:t>
            </a: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 and  also Accuracy drop in noisy, real-field images[2][21][24][26]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Research is often disease-specific, </a:t>
            </a:r>
            <a:r>
              <a:rPr b="1" lang="en-US" sz="1600" spc="-1" strike="noStrike">
                <a:solidFill>
                  <a:schemeClr val="dk1"/>
                </a:solidFill>
                <a:latin typeface="Times New Roman"/>
              </a:rPr>
              <a:t>focusing on a single disease at a time</a:t>
            </a: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, and lacks real-time applicability</a:t>
            </a:r>
            <a:r>
              <a:rPr b="0" lang="en-US" sz="1600" spc="-1" strike="noStrike">
                <a:solidFill>
                  <a:srgbClr val="202124"/>
                </a:solidFill>
                <a:latin typeface="Times New Roman"/>
              </a:rPr>
              <a:t>[1][6][20].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Models trained on tomato often fail to generalize to other crops or even unseen </a:t>
            </a:r>
            <a:r>
              <a:rPr b="1" lang="en-US" sz="1600" spc="-1" strike="noStrike">
                <a:solidFill>
                  <a:schemeClr val="dk1"/>
                </a:solidFill>
                <a:latin typeface="Times New Roman"/>
              </a:rPr>
              <a:t>tomato disease variations due to overfitting.</a:t>
            </a:r>
            <a:r>
              <a:rPr b="0" lang="en-IN" sz="1600" spc="-1" strike="noStrike">
                <a:solidFill>
                  <a:schemeClr val="dk1"/>
                </a:solidFill>
                <a:latin typeface="Times New Roman"/>
              </a:rPr>
              <a:t> [5][8][19][20][2][4]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Some Research are focused on distinguish between </a:t>
            </a:r>
            <a:r>
              <a:rPr b="1" lang="en-US" sz="1600" spc="-1" strike="noStrike">
                <a:solidFill>
                  <a:schemeClr val="dk1"/>
                </a:solidFill>
                <a:latin typeface="Times New Roman"/>
              </a:rPr>
              <a:t>healthy image and Unhealthy image</a:t>
            </a: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.</a:t>
            </a:r>
            <a:r>
              <a:rPr b="0" lang="en-IN" sz="1600" spc="-1" strike="noStrike">
                <a:solidFill>
                  <a:schemeClr val="dk1"/>
                </a:solidFill>
                <a:latin typeface="Times New Roman"/>
              </a:rPr>
              <a:t> [5][18][29][16]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Models show </a:t>
            </a:r>
            <a:r>
              <a:rPr b="1" lang="en-US" sz="1600" spc="-1" strike="noStrike">
                <a:solidFill>
                  <a:schemeClr val="dk1"/>
                </a:solidFill>
                <a:latin typeface="Times New Roman"/>
              </a:rPr>
              <a:t>low accuracy on real-field images</a:t>
            </a: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 because of changing light, background clutter, and leaf overlap.</a:t>
            </a:r>
            <a:r>
              <a:rPr b="0" lang="en-IN" sz="1600" spc="-1" strike="noStrike">
                <a:solidFill>
                  <a:schemeClr val="dk1"/>
                </a:solidFill>
                <a:latin typeface="Times New Roman"/>
              </a:rPr>
              <a:t> [23] [26][27][3]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Most studies </a:t>
            </a:r>
            <a:r>
              <a:rPr b="1" lang="en-US" sz="1600" spc="-1" strike="noStrike">
                <a:solidFill>
                  <a:schemeClr val="dk1"/>
                </a:solidFill>
                <a:latin typeface="Times New Roman"/>
              </a:rPr>
              <a:t>cannot correctly locate the exact disease spots</a:t>
            </a: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 (no bounding boxes or segmentation).</a:t>
            </a:r>
            <a:r>
              <a:rPr b="0" lang="en-IN" sz="1600" spc="-1" strike="noStrike">
                <a:solidFill>
                  <a:schemeClr val="dk1"/>
                </a:solidFill>
                <a:latin typeface="Times New Roman"/>
              </a:rPr>
              <a:t> [2][16][22][31]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No proper methods to </a:t>
            </a:r>
            <a:r>
              <a:rPr b="1" lang="en-US" sz="1600" spc="-1" strike="noStrike">
                <a:solidFill>
                  <a:schemeClr val="dk1"/>
                </a:solidFill>
                <a:latin typeface="Times New Roman"/>
              </a:rPr>
              <a:t>measure how severe the disease is</a:t>
            </a: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 on the leaf.[29][30]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Systems </a:t>
            </a:r>
            <a:r>
              <a:rPr b="1" lang="en-US" sz="1600" spc="-1" strike="noStrike">
                <a:solidFill>
                  <a:schemeClr val="dk1"/>
                </a:solidFill>
                <a:latin typeface="Times New Roman"/>
              </a:rPr>
              <a:t>cannot detect more than one disease</a:t>
            </a: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 on the same leaf at the same time.</a:t>
            </a:r>
            <a:r>
              <a:rPr b="0" lang="en-IN" sz="1600" spc="-1" strike="noStrike">
                <a:solidFill>
                  <a:schemeClr val="dk1"/>
                </a:solidFill>
                <a:latin typeface="Times New Roman"/>
              </a:rPr>
              <a:t> [23][26][27][31]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There is a </a:t>
            </a:r>
            <a:r>
              <a:rPr b="1" lang="en-US" sz="1600" spc="-1" strike="noStrike">
                <a:solidFill>
                  <a:schemeClr val="dk1"/>
                </a:solidFill>
                <a:latin typeface="Times New Roman"/>
              </a:rPr>
              <a:t>lack  of real-world tomato datasets</a:t>
            </a: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 collected from farms.</a:t>
            </a:r>
            <a:r>
              <a:rPr b="0" lang="en-IN" sz="1600" spc="-1" strike="noStrike">
                <a:solidFill>
                  <a:schemeClr val="dk1"/>
                </a:solidFill>
                <a:latin typeface="Times New Roman"/>
              </a:rPr>
              <a:t> [1][3][6][25][26]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No study focuses on </a:t>
            </a:r>
            <a:r>
              <a:rPr b="1" lang="en-US" sz="1600" spc="-1" strike="noStrike">
                <a:solidFill>
                  <a:schemeClr val="dk1"/>
                </a:solidFill>
                <a:latin typeface="Times New Roman"/>
              </a:rPr>
              <a:t>tracking disease changes over time</a:t>
            </a: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 (no temporal analysis).[1][20][28]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Models </a:t>
            </a:r>
            <a:r>
              <a:rPr b="1" lang="en-US" sz="1600" spc="-1" strike="noStrike">
                <a:solidFill>
                  <a:schemeClr val="dk1"/>
                </a:solidFill>
                <a:latin typeface="Times New Roman"/>
              </a:rPr>
              <a:t>do not generalize well</a:t>
            </a: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 to different tomato varieties, lighting conditions, and environments.</a:t>
            </a:r>
            <a:r>
              <a:rPr b="0" lang="en-IN" sz="1600" spc="-1" strike="noStrike">
                <a:solidFill>
                  <a:schemeClr val="dk1"/>
                </a:solidFill>
                <a:latin typeface="Times New Roman"/>
              </a:rPr>
              <a:t> [1], [17], [19], [25], [26][27]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838080" y="399960"/>
            <a:ext cx="10515240" cy="110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Times New Roman"/>
              </a:rPr>
              <a:t>Problem Statement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1150200" y="1502280"/>
            <a:ext cx="508860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Tomato crops are vulnerable to multiple diseases that reduce yield and quality. Manual inspection is slow and error-prone. </a:t>
            </a:r>
            <a:r>
              <a:rPr b="0" lang="en-IN" sz="1800" spc="-1" strike="noStrike">
                <a:solidFill>
                  <a:schemeClr val="dk1"/>
                </a:solidFill>
                <a:latin typeface="Times New Roman"/>
              </a:rPr>
              <a:t>The research problem is to develop a lightweight unified deep learning framework that can identify tomato diseases through TomaNet-C and detect and localize multiple disease regions through TomaNet-D, using a shared TomaBlock-based trunk while maintaining accuracy, efficiency, and reliable evaluation</a:t>
            </a:r>
            <a:r>
              <a:rPr b="0" lang="en-US" sz="1800" spc="-1" strike="noStrike">
                <a:solidFill>
                  <a:schemeClr val="dk1"/>
                </a:solidFill>
                <a:latin typeface="Times New Roman"/>
              </a:rPr>
              <a:t> The goal is a robust, explainable pipeline suitable for field deployment or assisting farm experts.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indent="0" algn="just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96" name="Picture 3" descr=""/>
          <p:cNvPicPr/>
          <p:nvPr/>
        </p:nvPicPr>
        <p:blipFill>
          <a:blip r:embed="rId1"/>
          <a:stretch/>
        </p:blipFill>
        <p:spPr>
          <a:xfrm>
            <a:off x="6731280" y="1443960"/>
            <a:ext cx="4866840" cy="3911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101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4800" spc="-1" strike="noStrike">
                <a:solidFill>
                  <a:schemeClr val="dk1"/>
                </a:solidFill>
                <a:latin typeface="Times New Roman"/>
              </a:rPr>
              <a:t>Objectives</a:t>
            </a:r>
            <a:endParaRPr b="0" lang="en-US" sz="4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1019880" y="1422720"/>
            <a:ext cx="10151640" cy="4258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9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600" spc="-1" strike="noStrike">
                <a:solidFill>
                  <a:schemeClr val="dk1"/>
                </a:solidFill>
                <a:latin typeface="Times New Roman"/>
              </a:rPr>
              <a:t>Gather datasets from various authorized websites.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600" spc="-1" strike="noStrike">
                <a:solidFill>
                  <a:schemeClr val="dk1"/>
                </a:solidFill>
                <a:latin typeface="Times New Roman"/>
              </a:rPr>
              <a:t>Analyse and implement preprocessing techniques on an image dataset like tomato leaf.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Times New Roman"/>
              </a:rPr>
              <a:t>Explore and utilize feature extraction techniques to identify features like color, texture, shape, and size of the affected areas</a:t>
            </a:r>
            <a:r>
              <a:rPr b="0" lang="en-IN" sz="1600" spc="-1" strike="noStrike">
                <a:solidFill>
                  <a:schemeClr val="dk1"/>
                </a:solidFill>
                <a:latin typeface="Times New Roman"/>
              </a:rPr>
              <a:t>.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600" spc="-1" strike="noStrike">
                <a:solidFill>
                  <a:schemeClr val="dk1"/>
                </a:solidFill>
                <a:latin typeface="Times New Roman"/>
              </a:rPr>
              <a:t>Study and identify DL model selection for classification.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202124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202124"/>
                </a:solidFill>
                <a:latin typeface="Times New Roman"/>
              </a:rPr>
              <a:t>Explore the measurement parameters to check the overall performance of proposed recognition system.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IN" sz="1600" spc="-1" strike="noStrike">
                <a:solidFill>
                  <a:schemeClr val="dk1"/>
                </a:solidFill>
                <a:latin typeface="Times New Roman"/>
              </a:rPr>
              <a:t>Evaluate the performance of a model with existing model.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Comparative Analysis: Existing Research Gaps and TomaNet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00" name="Content Placeholder 3"/>
          <p:cNvGraphicFramePr/>
          <p:nvPr/>
        </p:nvGraphicFramePr>
        <p:xfrm>
          <a:off x="585720" y="1853640"/>
          <a:ext cx="11020680" cy="4600800"/>
        </p:xfrm>
        <a:graphic>
          <a:graphicData uri="http://schemas.openxmlformats.org/drawingml/2006/table">
            <a:tbl>
              <a:tblPr/>
              <a:tblGrid>
                <a:gridCol w="5510160"/>
                <a:gridCol w="5510160"/>
              </a:tblGrid>
              <a:tr h="46800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Existing Research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TomaNet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7708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Many studies focus only on classification.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TomaNet-C and TomaNet-D use the same TomaBlock-based layer, enabling one shared feature extractor for both classification and detection tasks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8078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Most research focuses on leaf classification rather than disease localization. Existing CNN models identify disease labels but do not indicate where the disease appears on the plant.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TomaNet-D performs object detection, identifying disease type and drawing bounding boxes around multiple infected regions.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784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Heavy deep learning models are difficult to deploy on smartphones and edge devices. Many CNN and Transformer models require high computational resources.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TomaNet uses Partial Convolution (PConv) and re-parameterisation to reduce parameters and computational cost, making it lightweight.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708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Existing lightweight models often lose spatial information when detecting small lesions. Small disease spots are difficult to detect accurately.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TomaNet integrates Coordinate Attention, preserving positional information to improve learning of small localized disease symptoms.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708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Existing studies rely heavily on PlantVillage laboratory images. Models trained on plain-background images often perform poorly in real agricultural fields.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TomaNet uses both laboratory and field datasets (Rajashthan) to improve real-field applicability.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7080"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Dataset leakage leads to overestimated accuracy. Duplicate or augmented images appear in both train and test sets in some datasets.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algn="just" defTabSz="914400">
                        <a:lnSpc>
                          <a:spcPct val="100000"/>
                        </a:lnSpc>
                      </a:pPr>
                      <a:r>
                        <a:rPr b="0" lang="en-IN" sz="1400" spc="-1" strike="noStrike">
                          <a:solidFill>
                            <a:schemeClr val="dk1"/>
                          </a:solidFill>
                          <a:latin typeface="Times New Roman"/>
                        </a:rPr>
                        <a:t>TomaNet creates a corrected leakage-free train/test split for Tomato-Village, providing more reliable evaluation.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dk1"/>
                </a:solidFill>
                <a:latin typeface="Times New Roman"/>
              </a:rPr>
              <a:t>Propsed Methodology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Content Placeholder 5" descr=""/>
          <p:cNvPicPr/>
          <p:nvPr/>
        </p:nvPicPr>
        <p:blipFill>
          <a:blip r:embed="rId1"/>
          <a:stretch/>
        </p:blipFill>
        <p:spPr>
          <a:xfrm>
            <a:off x="391680" y="1575720"/>
            <a:ext cx="8737920" cy="513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dk1"/>
                </a:solidFill>
                <a:latin typeface="Calibri Light"/>
              </a:rPr>
              <a:t>Plantvillage dataset and size(Tomanet-c)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PlantVillage– 18,000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Taiwan tomato dataset– 622 real field photos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• </a:t>
            </a: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PlantDoc– 700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dk1"/>
                </a:solidFill>
                <a:latin typeface="Calibri Light"/>
              </a:rPr>
              <a:t>Training testing validation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dk1"/>
                </a:solidFill>
                <a:latin typeface="Calibri Light"/>
              </a:rPr>
              <a:t>Plantvilage dataset(Tomanet-d)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Tomato-Village (detection variant)– field photos from Rajasthan, India. This is currently our only working detection dataset. After preparing it, we have 14,259 usable images with 6 disease classes that actually have boxes drawn on them. 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dk1"/>
                </a:solidFill>
                <a:latin typeface="Calibri Light"/>
              </a:rPr>
              <a:t>Training,Testing and Validation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dk1"/>
                </a:solidFill>
                <a:latin typeface="Calibri Light"/>
              </a:rPr>
              <a:t>Result(Tomanetn)&amp;Dataset Split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Training-70%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Testing-20%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Validation-10%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Epoch-100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6" name="Content Placeholder 13" descr=""/>
          <p:cNvPicPr/>
          <p:nvPr/>
        </p:nvPicPr>
        <p:blipFill>
          <a:blip r:embed="rId1"/>
          <a:stretch/>
        </p:blipFill>
        <p:spPr>
          <a:xfrm>
            <a:off x="838080" y="2058120"/>
            <a:ext cx="5181120" cy="3885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IN" sz="4400" spc="-1" strike="noStrike">
                <a:solidFill>
                  <a:schemeClr val="dk1"/>
                </a:solidFill>
                <a:latin typeface="Calibri Light"/>
              </a:rPr>
              <a:t>Continue(Tomanetm)&amp;Dataset split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118" name="Content Placeholder 5" descr=""/>
          <p:cNvPicPr/>
          <p:nvPr/>
        </p:nvPicPr>
        <p:blipFill>
          <a:blip r:embed="rId1"/>
          <a:stretch/>
        </p:blipFill>
        <p:spPr>
          <a:xfrm>
            <a:off x="838080" y="1890720"/>
            <a:ext cx="5181120" cy="3885840"/>
          </a:xfrm>
          <a:prstGeom prst="rect">
            <a:avLst/>
          </a:prstGeom>
          <a:ln w="0">
            <a:noFill/>
          </a:ln>
        </p:spPr>
      </p:pic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172200" y="189072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Training-70%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Testing-20%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Validation-10%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800" spc="-1" strike="noStrike">
                <a:solidFill>
                  <a:schemeClr val="dk1"/>
                </a:solidFill>
                <a:latin typeface="Calibri"/>
              </a:rPr>
              <a:t>Epoch-100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018080" y="502920"/>
            <a:ext cx="9235080" cy="1096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IN" sz="6000" spc="-1" strike="noStrike">
                <a:solidFill>
                  <a:schemeClr val="dk1"/>
                </a:solidFill>
                <a:latin typeface="Times New Roman"/>
              </a:rPr>
              <a:t>Result</a:t>
            </a:r>
            <a:endParaRPr b="0" lang="en-US" sz="6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1018080" y="1710360"/>
            <a:ext cx="9143640" cy="307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buNone/>
            </a:pP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122" name="Table 6"/>
          <p:cNvGraphicFramePr/>
          <p:nvPr/>
        </p:nvGraphicFramePr>
        <p:xfrm>
          <a:off x="1018080" y="1763640"/>
          <a:ext cx="8127720" cy="1854000"/>
        </p:xfrm>
        <a:graphic>
          <a:graphicData uri="http://schemas.openxmlformats.org/drawingml/2006/table">
            <a:tbl>
              <a:tblPr/>
              <a:tblGrid>
                <a:gridCol w="4063680"/>
                <a:gridCol w="4063680"/>
              </a:tblGrid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Metric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IN" sz="1800" spc="-1" strike="noStrike">
                          <a:solidFill>
                            <a:schemeClr val="lt1"/>
                          </a:solidFill>
                          <a:latin typeface="Calibri"/>
                        </a:rPr>
                        <a:t>Score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F1 Score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99.45%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Recall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99.4%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Precision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99.5%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Accuracy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IN" sz="1800" spc="-1" strike="noStrike">
                          <a:solidFill>
                            <a:schemeClr val="dk1"/>
                          </a:solidFill>
                          <a:latin typeface="Calibri"/>
                        </a:rPr>
                        <a:t>99.6%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chemeClr val="dk1"/>
                </a:solidFill>
                <a:latin typeface="Times New Roman"/>
              </a:rPr>
              <a:t>Conclusion 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838080" y="14637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 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The proposed </a:t>
            </a:r>
            <a:r>
              <a:rPr b="1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TomaNet framework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 aims to provide an efficient and unified solution for tomato disease analysis by addressing the limitations of existing classification and detection approaches. The framework consists of </a:t>
            </a:r>
            <a:r>
              <a:rPr b="1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TomaNet-C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 for disease classification and </a:t>
            </a:r>
            <a:r>
              <a:rPr b="1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TomaNet-D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 for disease detection and localization, both built using the same </a:t>
            </a:r>
            <a:r>
              <a:rPr b="1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TomaBlock-based shared trunk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The integration of </a:t>
            </a:r>
            <a:r>
              <a:rPr b="1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Partial Convolution (PConv), Coordinate Attention, and re-parameterisation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 is intended to achieve a balance between feature-learning capability and computational efficiency. TomaNet-C focuses on identifying the disease category from tomato leaf images, while TomaNet-D extends the same feature-extraction framework to identify and localize multiple diseased regions in real-field images.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The project also emphasizes </a:t>
            </a:r>
            <a:r>
              <a:rPr b="1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data quality and reliable evaluation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 through dataset verification and a corrected leakage-free data split. The availability of different model sizes provides flexibility for deployment from </a:t>
            </a:r>
            <a:r>
              <a:rPr b="1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resource-constrained mobile/edge devices to more powerful computing systems</a:t>
            </a:r>
            <a:r>
              <a:rPr b="0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.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Overall, the proposed work demonstrates the potential of a </a:t>
            </a:r>
            <a:r>
              <a:rPr b="1" lang="en-IN" sz="1800" spc="-1" strike="noStrike">
                <a:solidFill>
                  <a:schemeClr val="dk1"/>
                </a:solidFill>
                <a:latin typeface="Calibri"/>
                <a:ea typeface="Calibri"/>
              </a:rPr>
              <a:t>single lightweight architecture for two complementary tomato disease tasks—“What disease?” and “Where is the disease?”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marL="228600" indent="-228600" defTabSz="914400">
              <a:lnSpc>
                <a:spcPct val="107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IN" sz="4400" spc="-1" strike="noStrike">
                <a:solidFill>
                  <a:schemeClr val="dk1"/>
                </a:solidFill>
                <a:latin typeface="Times New Roman"/>
              </a:rPr>
              <a:t>Further Enhancement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967680" y="1493640"/>
            <a:ext cx="9933480" cy="435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IN" sz="2800" spc="-1" strike="noStrike">
                <a:solidFill>
                  <a:schemeClr val="dk1"/>
                </a:solidFill>
                <a:latin typeface="Times New Roman"/>
              </a:rPr>
              <a:t>Further experiments with larger training runs, comparisons with existing models.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/>
          </p:nvPr>
        </p:nvSpPr>
        <p:spPr>
          <a:xfrm>
            <a:off x="421920" y="112680"/>
            <a:ext cx="11563200" cy="62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5700" spc="-1" strike="noStrike">
                <a:solidFill>
                  <a:schemeClr val="dk1"/>
                </a:solidFill>
                <a:latin typeface="Times New Roman"/>
              </a:rPr>
              <a:t>References</a:t>
            </a:r>
            <a:endParaRPr b="0" lang="en-US" sz="5700" spc="-1" strike="noStrike">
              <a:solidFill>
                <a:schemeClr val="dk1"/>
              </a:solidFill>
              <a:latin typeface="Calibri"/>
            </a:endParaRPr>
          </a:p>
          <a:p>
            <a:pPr marL="457200" indent="-45720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Times New Roman"/>
              </a:rPr>
              <a:t>Wspanialy, P.; Moussa, M. A detection and severity estimation system for generic diseases of tomato greenhouse plants. Comput. Electron. Agric. 2020, 178, 105701. 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Thuseethan, S., Vigneshwaran, P., Charles, J., &amp; Wimalasooriya, C. (2024). Siamese network-based lightweight framework for tomato leaf disease recognition.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Computers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,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13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(12), 323.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Oni, M. K., &amp; Prama, T. T. (2025). Optimized Custom CNN for Real-Time Tomato Leaf Disease Detection.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arXiv preprint arXiv:2502.18521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Times New Roman"/>
              </a:rPr>
              <a:t>Thai, H. T., &amp; Le, K. H. (2025). MobileH-Transformer: Enabling real-time leaf disease detection using hybrid deep learning approach for smart agriculture. </a:t>
            </a:r>
            <a:r>
              <a:rPr b="0" i="1" lang="en-US" sz="1400" spc="-1" strike="noStrike">
                <a:solidFill>
                  <a:srgbClr val="222222"/>
                </a:solidFill>
                <a:latin typeface="Times New Roman"/>
              </a:rPr>
              <a:t>Crop Protection</a:t>
            </a:r>
            <a:r>
              <a:rPr b="0" lang="en-US" sz="1400" spc="-1" strike="noStrike">
                <a:solidFill>
                  <a:srgbClr val="222222"/>
                </a:solidFill>
                <a:latin typeface="Times New Roman"/>
              </a:rPr>
              <a:t>, </a:t>
            </a:r>
            <a:r>
              <a:rPr b="0" i="1" lang="en-US" sz="1400" spc="-1" strike="noStrike">
                <a:solidFill>
                  <a:srgbClr val="222222"/>
                </a:solidFill>
                <a:latin typeface="Times New Roman"/>
              </a:rPr>
              <a:t>189</a:t>
            </a:r>
            <a:r>
              <a:rPr b="0" lang="en-US" sz="1400" spc="-1" strike="noStrike">
                <a:solidFill>
                  <a:srgbClr val="222222"/>
                </a:solidFill>
                <a:latin typeface="Times New Roman"/>
              </a:rPr>
              <a:t>, 107002.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Karegowda, A. G., Jain, R., &amp; Devika, G. (2021, September). State-of-Art Deep Learning Based Tomato Leaf Disease Detection. In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3rd International Conference on Integrated Intelligent Computing Communication &amp; Security (ICIIC 2021)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 (pp. 303-311). Atlantis Press.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Hosen, M. D., &amp; Islam, M. H. (2025). Aggrotech: Leveraging Deep Learning for Sustainable Tomato Disease Management.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arXiv preprint arXiv:2501.12052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Times New Roman"/>
              </a:rPr>
              <a:t>Anu, A., Solanki, K., &amp; Dhankar, A. (2024). A novel multi-class deep learning approach for tomato leaf disease detection system. </a:t>
            </a:r>
            <a:r>
              <a:rPr b="0" i="1" lang="en-US" sz="1400" spc="-1" strike="noStrike">
                <a:solidFill>
                  <a:srgbClr val="222222"/>
                </a:solidFill>
                <a:latin typeface="Times New Roman"/>
              </a:rPr>
              <a:t>International Journal of Intelligent Systems and Applications in Engineering</a:t>
            </a:r>
            <a:r>
              <a:rPr b="0" lang="en-US" sz="1400" spc="-1" strike="noStrike">
                <a:solidFill>
                  <a:srgbClr val="222222"/>
                </a:solidFill>
                <a:latin typeface="Times New Roman"/>
              </a:rPr>
              <a:t>, </a:t>
            </a:r>
            <a:r>
              <a:rPr b="0" i="1" lang="en-US" sz="1400" spc="-1" strike="noStrike">
                <a:solidFill>
                  <a:srgbClr val="222222"/>
                </a:solidFill>
                <a:latin typeface="Times New Roman"/>
              </a:rPr>
              <a:t>12</a:t>
            </a:r>
            <a:r>
              <a:rPr b="0" lang="en-US" sz="1400" spc="-1" strike="noStrike">
                <a:solidFill>
                  <a:srgbClr val="222222"/>
                </a:solidFill>
                <a:latin typeface="Times New Roman"/>
              </a:rPr>
              <a:t>(6s), 187-196.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/>
              <a:tabLst>
                <a:tab algn="l" pos="0"/>
              </a:tabLst>
            </a:pP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Trivedi, N. K., Gautam, V., Anand, A., Aljahdali, H. M., Villar, S. G., Anand, D., ... &amp; Kadry, S. (2021). Early detection and classification of tomato leaf disease using high-performance deep neural network.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Sensors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,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21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(23), 7987.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6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/>
          </p:nvPr>
        </p:nvSpPr>
        <p:spPr>
          <a:xfrm>
            <a:off x="421920" y="112680"/>
            <a:ext cx="11563200" cy="62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5700" spc="-1" strike="noStrike">
                <a:solidFill>
                  <a:schemeClr val="dk1"/>
                </a:solidFill>
                <a:latin typeface="Times New Roman"/>
              </a:rPr>
              <a:t>References</a:t>
            </a:r>
            <a:endParaRPr b="0" lang="en-US" sz="57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 startAt="9"/>
              <a:tabLst>
                <a:tab algn="l" pos="0"/>
              </a:tabLst>
            </a:pP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Chen, H. C., Widodo, A. M., Wisnujati, A., Rahaman, M., Lin, J. C. W., Chen, L., &amp; Weng, C. E. (2022). AlexNet convolutional neural network for disease detection and classification of tomato leaf.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Electronics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,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11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(6), 951.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 startAt="9"/>
              <a:tabLst>
                <a:tab algn="l" pos="0"/>
              </a:tabLst>
            </a:pP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Nyasulu, C., Diattara, A., Traore, A., Ba, C., Diedhiou, P. M., Sy, Y., ... &amp; Peluffo-Ordóñez, D. H. (2023). A comparative study of Machine Learning-based classification of Tomato fungal diseases: Application of GLCM texture features.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Heliyon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,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9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(11).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 startAt="9"/>
              <a:tabLst>
                <a:tab algn="l" pos="0"/>
              </a:tabLst>
            </a:pP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Harakannanavar, S. S., Rudagi, J. M., Puranikmath, V. I., Siddiqua, A., &amp; Pramodhini, R. (2022). Plant leaf disease detection using computer vision and machine learning algorithms.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Global Transitions Proceedings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,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3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(1), 305-310.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 startAt="9"/>
              <a:tabLst>
                <a:tab algn="l" pos="0"/>
              </a:tabLst>
            </a:pP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Maeda-Gutiérrez, V., Galvan-Tejada, C. E., Zanella-Calzada, L. A., Celaya-Padilla, J. M., Galván-Tejada, J. I., Gamboa-Rosales, H., ... &amp; Olvera-Olvera, C. A. (2020). Comparison of convolutional neural network architectures for classification of tomato plant diseases.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Applied Sciences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,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10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(4), 1245.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/>
          </p:nvPr>
        </p:nvSpPr>
        <p:spPr>
          <a:xfrm>
            <a:off x="421920" y="112680"/>
            <a:ext cx="11563200" cy="62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5700" spc="-1" strike="noStrike">
                <a:solidFill>
                  <a:schemeClr val="dk1"/>
                </a:solidFill>
                <a:latin typeface="Times New Roman"/>
              </a:rPr>
              <a:t>References</a:t>
            </a:r>
            <a:endParaRPr b="0" lang="en-US" sz="57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 startAt="13"/>
              <a:tabLst>
                <a:tab algn="l" pos="0"/>
              </a:tabLst>
            </a:pP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Hussein, A. H. A., Adnan, M. M., Hemalatha, K. L., Malathy, V., &amp; Rajesh, N. (2023, November). Coordinate Attention Mechanism with Convolutional Neural Network for Tomato Leaf Diseases. In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2023 International Conference on Integrated Intelligence and Communication Systems (ICIICS)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 (pp. 1-5). IEEE.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 startAt="13"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Times New Roman"/>
              </a:rPr>
              <a:t>Abbas, A., Jain, S., Gour, M., &amp; Vankudothu, S. (2021). Tomato plant disease detection using transfer learning with C-GAN synthetic images. </a:t>
            </a:r>
            <a:r>
              <a:rPr b="0" i="1" lang="en-US" sz="1400" spc="-1" strike="noStrike">
                <a:solidFill>
                  <a:srgbClr val="222222"/>
                </a:solidFill>
                <a:latin typeface="Times New Roman"/>
              </a:rPr>
              <a:t>Computers and electronics in agriculture</a:t>
            </a:r>
            <a:r>
              <a:rPr b="0" lang="en-US" sz="1400" spc="-1" strike="noStrike">
                <a:solidFill>
                  <a:srgbClr val="222222"/>
                </a:solidFill>
                <a:latin typeface="Times New Roman"/>
              </a:rPr>
              <a:t>, </a:t>
            </a:r>
            <a:r>
              <a:rPr b="0" i="1" lang="en-US" sz="1400" spc="-1" strike="noStrike">
                <a:solidFill>
                  <a:srgbClr val="222222"/>
                </a:solidFill>
                <a:latin typeface="Times New Roman"/>
              </a:rPr>
              <a:t>187</a:t>
            </a:r>
            <a:r>
              <a:rPr b="0" lang="en-US" sz="1400" spc="-1" strike="noStrike">
                <a:solidFill>
                  <a:srgbClr val="222222"/>
                </a:solidFill>
                <a:latin typeface="Times New Roman"/>
              </a:rPr>
              <a:t>, 106279.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 startAt="13"/>
              <a:tabLst>
                <a:tab algn="l" pos="0"/>
              </a:tabLst>
            </a:pP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Ahmad, M., Abdullah, M., Moon, H., &amp; Han, D. (2021). Plant disease detection in imbalanced datasets using efficient convolutional neural networks with stepwise transfer learning.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IEEE Access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, </a:t>
            </a:r>
            <a:r>
              <a:rPr b="0" i="1" lang="en-IN" sz="1400" spc="-1" strike="noStrike">
                <a:solidFill>
                  <a:srgbClr val="222222"/>
                </a:solidFill>
                <a:latin typeface="Times New Roman"/>
              </a:rPr>
              <a:t>9</a:t>
            </a:r>
            <a:r>
              <a:rPr b="0" lang="en-IN" sz="1400" spc="-1" strike="noStrike">
                <a:solidFill>
                  <a:srgbClr val="222222"/>
                </a:solidFill>
                <a:latin typeface="Times New Roman"/>
              </a:rPr>
              <a:t>, 140565-140580.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1001"/>
              </a:spcBef>
              <a:buClr>
                <a:srgbClr val="222222"/>
              </a:buClr>
              <a:buFont typeface="Calibri Light"/>
              <a:buAutoNum type="arabicPeriod" startAt="13"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Times New Roman"/>
              </a:rPr>
              <a:t>Ala'a, R., &amp; Ibrahim, R. W. (2024). Classification of tomato leaf images for detection of plant disease using conformable polynomials image features. </a:t>
            </a:r>
            <a:r>
              <a:rPr b="0" i="1" lang="en-US" sz="1400" spc="-1" strike="noStrike">
                <a:solidFill>
                  <a:srgbClr val="222222"/>
                </a:solidFill>
                <a:latin typeface="Times New Roman"/>
              </a:rPr>
              <a:t>MethodsX</a:t>
            </a:r>
            <a:r>
              <a:rPr b="0" lang="en-US" sz="1400" spc="-1" strike="noStrike">
                <a:solidFill>
                  <a:srgbClr val="222222"/>
                </a:solidFill>
                <a:latin typeface="Times New Roman"/>
              </a:rPr>
              <a:t>, </a:t>
            </a:r>
            <a:r>
              <a:rPr b="0" i="1" lang="en-US" sz="1400" spc="-1" strike="noStrike">
                <a:solidFill>
                  <a:srgbClr val="222222"/>
                </a:solidFill>
                <a:latin typeface="Times New Roman"/>
              </a:rPr>
              <a:t>13</a:t>
            </a:r>
            <a:r>
              <a:rPr b="0" lang="en-US" sz="1400" spc="-1" strike="noStrike">
                <a:solidFill>
                  <a:srgbClr val="222222"/>
                </a:solidFill>
                <a:latin typeface="Times New Roman"/>
              </a:rPr>
              <a:t>, 102844.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13"/>
              <a:tabLst>
                <a:tab algn="l" pos="0"/>
              </a:tabLst>
            </a:pPr>
            <a:r>
              <a:rPr b="0" lang="en-US" sz="1300" spc="-1" strike="noStrike">
                <a:solidFill>
                  <a:schemeClr val="dk1"/>
                </a:solidFill>
                <a:latin typeface="Times New Roman"/>
              </a:rPr>
              <a:t>Wang, X., Liu, J., &amp; Liu, G. (2021). Diseases detection of occlusion and overlapping tomato leaves based on deep learning. </a:t>
            </a:r>
            <a:r>
              <a:rPr b="0" i="1" lang="en-US" sz="1300" spc="-1" strike="noStrike">
                <a:solidFill>
                  <a:schemeClr val="dk1"/>
                </a:solidFill>
                <a:latin typeface="Times New Roman"/>
              </a:rPr>
              <a:t>Frontiers in plant science</a:t>
            </a:r>
            <a:r>
              <a:rPr b="0" lang="en-US" sz="1300" spc="-1" strike="noStrike">
                <a:solidFill>
                  <a:schemeClr val="dk1"/>
                </a:solidFill>
                <a:latin typeface="Times New Roman"/>
              </a:rPr>
              <a:t>, </a:t>
            </a:r>
            <a:r>
              <a:rPr b="0" i="1" lang="en-US" sz="1300" spc="-1" strike="noStrike">
                <a:solidFill>
                  <a:schemeClr val="dk1"/>
                </a:solidFill>
                <a:latin typeface="Times New Roman"/>
              </a:rPr>
              <a:t>12</a:t>
            </a:r>
            <a:r>
              <a:rPr b="0" lang="en-US" sz="1300" spc="-1" strike="noStrike">
                <a:solidFill>
                  <a:schemeClr val="dk1"/>
                </a:solidFill>
                <a:latin typeface="Times New Roman"/>
              </a:rPr>
              <a:t>, 792244.</a:t>
            </a:r>
            <a:endParaRPr b="0" lang="en-US" sz="13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/>
          </p:nvPr>
        </p:nvSpPr>
        <p:spPr>
          <a:xfrm>
            <a:off x="421920" y="112680"/>
            <a:ext cx="11563200" cy="6222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en-US" sz="3100" spc="-1" strike="noStrike">
              <a:solidFill>
                <a:schemeClr val="dk1"/>
              </a:solidFill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5700" spc="-1" strike="noStrike">
                <a:solidFill>
                  <a:schemeClr val="dk1"/>
                </a:solidFill>
                <a:latin typeface="Times New Roman"/>
              </a:rPr>
              <a:t>References</a:t>
            </a:r>
            <a:endParaRPr b="0" lang="en-US" sz="57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18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Li, D., Yin, Z., Wu, Z., &amp; Liu, Q. (2021, July). Classification for tomato disease with imbalanced samples based on td-mobilenetv2. In </a:t>
            </a:r>
            <a:r>
              <a:rPr b="0" i="1" lang="en-US" sz="1500" spc="-1" strike="noStrike">
                <a:solidFill>
                  <a:schemeClr val="dk1"/>
                </a:solidFill>
                <a:latin typeface="Times New Roman"/>
              </a:rPr>
              <a:t>2021 5th international conference on imaging, signal processing and communications (ICISPC)</a:t>
            </a: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 (pp. 35-39). IEEE.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18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Shoaib, M., Hussain, T., Shah, B., Ullah, I., Shah, S. M., Ali, F., &amp; Park, S. H. (2022). Deep learning-based segmentation and classification of leaf images for detection of tomato plant disease. </a:t>
            </a:r>
            <a:r>
              <a:rPr b="0" i="1" lang="en-US" sz="1500" spc="-1" strike="noStrike">
                <a:solidFill>
                  <a:schemeClr val="dk1"/>
                </a:solidFill>
                <a:latin typeface="Times New Roman"/>
              </a:rPr>
              <a:t>Frontiers in plant science</a:t>
            </a: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, </a:t>
            </a:r>
            <a:r>
              <a:rPr b="0" i="1" lang="en-US" sz="1500" spc="-1" strike="noStrike">
                <a:solidFill>
                  <a:schemeClr val="dk1"/>
                </a:solidFill>
                <a:latin typeface="Times New Roman"/>
              </a:rPr>
              <a:t>13</a:t>
            </a: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, 1031748.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18"/>
              <a:tabLst>
                <a:tab algn="l" pos="0"/>
              </a:tabLst>
            </a:pPr>
            <a:r>
              <a:rPr b="0" lang="en-IN" sz="1500" spc="-1" strike="noStrike">
                <a:solidFill>
                  <a:schemeClr val="dk1"/>
                </a:solidFill>
                <a:latin typeface="Times New Roman"/>
              </a:rPr>
              <a:t>Gangwar, A., Dhaka, V. S., Rani, G., Khandelwal, S., Zumpano, E., &amp; Vocaturo, E. (2024). Time and Space Efficient Multi-Model Convolution Vision Transformer for Tomato Disease Detection from Leaf Images with Varied Backgrounds. </a:t>
            </a:r>
            <a:r>
              <a:rPr b="0" i="1" lang="en-IN" sz="1500" spc="-1" strike="noStrike">
                <a:solidFill>
                  <a:schemeClr val="dk1"/>
                </a:solidFill>
                <a:latin typeface="Times New Roman"/>
              </a:rPr>
              <a:t>Computers, Materials &amp; Continua</a:t>
            </a:r>
            <a:r>
              <a:rPr b="0" lang="en-IN" sz="1500" spc="-1" strike="noStrike">
                <a:solidFill>
                  <a:schemeClr val="dk1"/>
                </a:solidFill>
                <a:latin typeface="Times New Roman"/>
              </a:rPr>
              <a:t>, </a:t>
            </a:r>
            <a:r>
              <a:rPr b="0" i="1" lang="en-IN" sz="1500" spc="-1" strike="noStrike">
                <a:solidFill>
                  <a:schemeClr val="dk1"/>
                </a:solidFill>
                <a:latin typeface="Times New Roman"/>
              </a:rPr>
              <a:t>79</a:t>
            </a:r>
            <a:r>
              <a:rPr b="0" lang="en-IN" sz="1500" spc="-1" strike="noStrike">
                <a:solidFill>
                  <a:schemeClr val="dk1"/>
                </a:solidFill>
                <a:latin typeface="Times New Roman"/>
              </a:rPr>
              <a:t>(1).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18"/>
              <a:tabLst>
                <a:tab algn="l" pos="0"/>
              </a:tabLst>
            </a:pPr>
            <a:r>
              <a:rPr b="0" lang="en-IN" sz="1500" spc="-1" strike="noStrike">
                <a:solidFill>
                  <a:schemeClr val="dk1"/>
                </a:solidFill>
                <a:latin typeface="Times New Roman"/>
              </a:rPr>
              <a:t>O. F., Nahiduzzaman, M., Ahsan, M., Haider, J., &amp; Kowalski, M. (2024). Enhancing agriculture through real-time grape leaf disease classification via an edge device with a lightweight CNN architecture and Grad-CAM. </a:t>
            </a:r>
            <a:r>
              <a:rPr b="0" i="1" lang="en-IN" sz="1500" spc="-1" strike="noStrike">
                <a:solidFill>
                  <a:schemeClr val="dk1"/>
                </a:solidFill>
                <a:latin typeface="Times New Roman"/>
              </a:rPr>
              <a:t>Scientific Reports</a:t>
            </a:r>
            <a:r>
              <a:rPr b="0" lang="en-IN" sz="1500" spc="-1" strike="noStrike">
                <a:solidFill>
                  <a:schemeClr val="dk1"/>
                </a:solidFill>
                <a:latin typeface="Times New Roman"/>
              </a:rPr>
              <a:t>, </a:t>
            </a:r>
            <a:r>
              <a:rPr b="0" i="1" lang="en-IN" sz="1500" spc="-1" strike="noStrike">
                <a:solidFill>
                  <a:schemeClr val="dk1"/>
                </a:solidFill>
                <a:latin typeface="Times New Roman"/>
              </a:rPr>
              <a:t>14</a:t>
            </a:r>
            <a:r>
              <a:rPr b="0" lang="en-IN" sz="1500" spc="-1" strike="noStrike">
                <a:solidFill>
                  <a:schemeClr val="dk1"/>
                </a:solidFill>
                <a:latin typeface="Times New Roman"/>
              </a:rPr>
              <a:t>(1), 16022.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18"/>
              <a:tabLst>
                <a:tab algn="l" pos="0"/>
              </a:tabLst>
            </a:pPr>
            <a:r>
              <a:rPr b="0" lang="en-IN" sz="1500" spc="-1" strike="noStrike">
                <a:solidFill>
                  <a:schemeClr val="dk1"/>
                </a:solidFill>
                <a:latin typeface="Times New Roman"/>
              </a:rPr>
              <a:t>Masud, K. I., Rahman, M. M., Jannat, M. R., Hasan, M. M., Islam, M. S., &amp; Rahman, M. O. (2024, December). A CNN-based Model to Detect and Classify the Tomato Leaf Disease using Transfer Learning. In </a:t>
            </a:r>
            <a:r>
              <a:rPr b="0" i="1" lang="en-IN" sz="1500" spc="-1" strike="noStrike">
                <a:solidFill>
                  <a:schemeClr val="dk1"/>
                </a:solidFill>
                <a:latin typeface="Times New Roman"/>
              </a:rPr>
              <a:t>2024 27th International Conference on Computer and Information Technology (ICCIT)</a:t>
            </a:r>
            <a:r>
              <a:rPr b="0" lang="en-IN" sz="1500" spc="-1" strike="noStrike">
                <a:solidFill>
                  <a:schemeClr val="dk1"/>
                </a:solidFill>
                <a:latin typeface="Times New Roman"/>
              </a:rPr>
              <a:t> (pp. 2823-2828). IEEE.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18"/>
              <a:tabLst>
                <a:tab algn="l" pos="0"/>
              </a:tabLst>
            </a:pP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Catal Reis, H. (2024). Advanced tomato disease detection using the fusion of multiple deep-learning and meta-learning techniques. </a:t>
            </a:r>
            <a:r>
              <a:rPr b="0" i="1" lang="en-US" sz="1500" spc="-1" strike="noStrike">
                <a:solidFill>
                  <a:schemeClr val="dk1"/>
                </a:solidFill>
                <a:latin typeface="Times New Roman"/>
              </a:rPr>
              <a:t>Journal of Crop Health</a:t>
            </a: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, </a:t>
            </a:r>
            <a:r>
              <a:rPr b="0" i="1" lang="en-US" sz="1500" spc="-1" strike="noStrike">
                <a:solidFill>
                  <a:schemeClr val="dk1"/>
                </a:solidFill>
                <a:latin typeface="Times New Roman"/>
              </a:rPr>
              <a:t>76</a:t>
            </a:r>
            <a:r>
              <a:rPr b="0" lang="en-US" sz="1500" spc="-1" strike="noStrike">
                <a:solidFill>
                  <a:schemeClr val="dk1"/>
                </a:solidFill>
                <a:latin typeface="Times New Roman"/>
              </a:rPr>
              <a:t>(6), 1553-1567..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  <a:p>
            <a:pPr marL="343080" indent="-343080" algn="just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Calibri Light"/>
              <a:buAutoNum type="arabicPeriod" startAt="18"/>
              <a:tabLst>
                <a:tab algn="l" pos="0"/>
              </a:tabLst>
            </a:pPr>
            <a:r>
              <a:rPr b="0" lang="en-IN" sz="1500" spc="-1" strike="noStrike">
                <a:solidFill>
                  <a:schemeClr val="dk1"/>
                </a:solidFill>
                <a:latin typeface="Times New Roman"/>
              </a:rPr>
              <a:t>Junare, C. B., Ghanokar, V. S., Khandare, R. M., Koche, S. P., &amp; Pagrut, S. B. (2024). Plant disease detection using mask RCNN. </a:t>
            </a:r>
            <a:r>
              <a:rPr b="0" i="1" lang="en-IN" sz="1500" spc="-1" strike="noStrike">
                <a:solidFill>
                  <a:schemeClr val="dk1"/>
                </a:solidFill>
                <a:latin typeface="Times New Roman"/>
              </a:rPr>
              <a:t>SSGM Journal of Science and Engineering</a:t>
            </a:r>
            <a:r>
              <a:rPr b="0" lang="en-IN" sz="1500" spc="-1" strike="noStrike">
                <a:solidFill>
                  <a:schemeClr val="dk1"/>
                </a:solidFill>
                <a:latin typeface="Times New Roman"/>
              </a:rPr>
              <a:t>, </a:t>
            </a:r>
            <a:r>
              <a:rPr b="0" i="1" lang="en-IN" sz="1500" spc="-1" strike="noStrike">
                <a:solidFill>
                  <a:schemeClr val="dk1"/>
                </a:solidFill>
                <a:latin typeface="Times New Roman"/>
              </a:rPr>
              <a:t>2</a:t>
            </a:r>
            <a:r>
              <a:rPr b="0" lang="en-IN" sz="1500" spc="-1" strike="noStrike">
                <a:solidFill>
                  <a:schemeClr val="dk1"/>
                </a:solidFill>
                <a:latin typeface="Times New Roman"/>
              </a:rPr>
              <a:t>(1), 21-26.</a:t>
            </a:r>
            <a:endParaRPr b="0" lang="en-US" sz="15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/>
          </p:nvPr>
        </p:nvSpPr>
        <p:spPr>
          <a:xfrm>
            <a:off x="1110240" y="365760"/>
            <a:ext cx="10045080" cy="550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2" name="Rectangle 1"/>
          <p:cNvSpPr/>
          <p:nvPr/>
        </p:nvSpPr>
        <p:spPr>
          <a:xfrm>
            <a:off x="2573280" y="1796040"/>
            <a:ext cx="657036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</a:pP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1" lang="en-IN" sz="5400" spc="-1" strike="noStrike">
                <a:solidFill>
                  <a:srgbClr val="3f3f3f"/>
                </a:solidFill>
                <a:latin typeface="Calibri"/>
              </a:rPr>
              <a:t>Thank You</a:t>
            </a:r>
            <a:endParaRPr b="0" lang="en-US" sz="5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br>
              <a:rPr sz="1800"/>
            </a:b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12908</TotalTime>
  <Application>LibreOffice/24.2.7.2$Linux_X86_64 LibreOffice_project/420$Build-2</Application>
  <AppVersion>15.0000</AppVersion>
  <Words>4958</Words>
  <Paragraphs>334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2024-03-06T10:25:11Z</dcterms:created>
  <dc:creator>Admin</dc:creator>
  <dc:description/>
  <dc:language>en-US</dc:language>
  <cp:lastModifiedBy/>
  <dcterms:modified xsi:type="dcterms:W3CDTF">2026-09-18T09:04:20Z</dcterms:modified>
  <cp:revision>2214</cp:revision>
  <dc:subject/>
  <dc:title>Disease Detection in Plant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Widescreen</vt:lpwstr>
  </property>
  <property fmtid="{D5CDD505-2E9C-101B-9397-08002B2CF9AE}" pid="4" name="Slides">
    <vt:i4>31</vt:i4>
  </property>
</Properties>
</file>