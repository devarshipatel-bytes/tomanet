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4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111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11111"/>
                </a:solidFill>
                <a:latin typeface="Cambria"/>
              </a:rPr>
              <a:t>Per-class F1 on the 2,692-image test split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bacterial spot</c:v>
                  </c:pt>
                  <c:pt idx="1">
                    <c:v>early blight</c:v>
                  </c:pt>
                  <c:pt idx="2">
                    <c:v>healthy</c:v>
                  </c:pt>
                  <c:pt idx="3">
                    <c:v>late blight</c:v>
                  </c:pt>
                  <c:pt idx="4">
                    <c:v>leaf mold</c:v>
                  </c:pt>
                  <c:pt idx="5">
                    <c:v>mosaic virus</c:v>
                  </c:pt>
                  <c:pt idx="6">
                    <c:v>septoria leaf spot</c:v>
                  </c:pt>
                  <c:pt idx="7">
                    <c:v>spider mites</c:v>
                  </c:pt>
                  <c:pt idx="8">
                    <c:v>target spot</c:v>
                  </c:pt>
                  <c:pt idx="9">
                    <c:v>yellow leaf curl virus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0.9952</c:v>
                </c:pt>
                <c:pt idx="1">
                  <c:v>1</c:v>
                </c:pt>
                <c:pt idx="2">
                  <c:v>0.9979</c:v>
                </c:pt>
                <c:pt idx="3">
                  <c:v>0.9929</c:v>
                </c:pt>
                <c:pt idx="4">
                  <c:v>0.9965</c:v>
                </c:pt>
                <c:pt idx="5">
                  <c:v>1</c:v>
                </c:pt>
                <c:pt idx="6">
                  <c:v>0.9981</c:v>
                </c:pt>
                <c:pt idx="7">
                  <c:v>0.9939</c:v>
                </c:pt>
                <c:pt idx="8">
                  <c:v>0.9881</c:v>
                </c:pt>
                <c:pt idx="9">
                  <c:v>0.9987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-2100000"/>
          <a:lstStyle/>
          <a:p>
            <a:pPr>
              <a:defRPr sz="10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7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111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11111"/>
                </a:solidFill>
                <a:latin typeface="Cambria"/>
              </a:rPr>
              <a:t>Validation accuracy per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top-1 accuracy</c:v>
                </c:pt>
              </c:strCache>
            </c:strRef>
          </c:tx>
          <c:spPr>
            <a:solidFill>
              <a:srgbClr val="111111"/>
            </a:solidFill>
            <a:ln w="31750" cap="flat">
              <a:solidFill>
                <a:srgbClr val="1111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11111"/>
              </a:solidFill>
              <a:ln w="9525" cap="flat">
                <a:solidFill>
                  <a:srgbClr val="1111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1</c:v>
                  </c:pt>
                  <c:pt idx="1">
                    <c:v>5</c:v>
                  </c:pt>
                  <c:pt idx="2">
                    <c:v>9</c:v>
                  </c:pt>
                  <c:pt idx="3">
                    <c:v>13</c:v>
                  </c:pt>
                  <c:pt idx="4">
                    <c:v>17</c:v>
                  </c:pt>
                  <c:pt idx="5">
                    <c:v>21</c:v>
                  </c:pt>
                  <c:pt idx="6">
                    <c:v>25</c:v>
                  </c:pt>
                  <c:pt idx="7">
                    <c:v>29</c:v>
                  </c:pt>
                  <c:pt idx="8">
                    <c:v>33</c:v>
                  </c:pt>
                  <c:pt idx="9">
                    <c:v>37</c:v>
                  </c:pt>
                  <c:pt idx="10">
                    <c:v>41</c:v>
                  </c:pt>
                  <c:pt idx="11">
                    <c:v>45</c:v>
                  </c:pt>
                  <c:pt idx="12">
                    <c:v>49</c:v>
                  </c:pt>
                  <c:pt idx="13">
                    <c:v>53</c:v>
                  </c:pt>
                  <c:pt idx="14">
                    <c:v>57</c:v>
                  </c:pt>
                  <c:pt idx="15">
                    <c:v>61</c:v>
                  </c:pt>
                  <c:pt idx="16">
                    <c:v>65</c:v>
                  </c:pt>
                  <c:pt idx="17">
                    <c:v>69</c:v>
                  </c:pt>
                  <c:pt idx="18">
                    <c:v>73</c:v>
                  </c:pt>
                  <c:pt idx="19">
                    <c:v>77</c:v>
                  </c:pt>
                  <c:pt idx="20">
                    <c:v>81</c:v>
                  </c:pt>
                  <c:pt idx="21">
                    <c:v>83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0.1839</c:v>
                </c:pt>
                <c:pt idx="1">
                  <c:v>0.8972</c:v>
                </c:pt>
                <c:pt idx="2">
                  <c:v>0.9096</c:v>
                </c:pt>
                <c:pt idx="3">
                  <c:v>0.9615</c:v>
                </c:pt>
                <c:pt idx="4">
                  <c:v>0.9626</c:v>
                </c:pt>
                <c:pt idx="5">
                  <c:v>0.975</c:v>
                </c:pt>
                <c:pt idx="6">
                  <c:v>0.9637</c:v>
                </c:pt>
                <c:pt idx="7">
                  <c:v>0.9765</c:v>
                </c:pt>
                <c:pt idx="8">
                  <c:v>0.9862</c:v>
                </c:pt>
                <c:pt idx="9">
                  <c:v>0.9836</c:v>
                </c:pt>
                <c:pt idx="10">
                  <c:v>0.9895</c:v>
                </c:pt>
                <c:pt idx="11">
                  <c:v>0.9847</c:v>
                </c:pt>
                <c:pt idx="12">
                  <c:v>0.9888</c:v>
                </c:pt>
                <c:pt idx="13">
                  <c:v>0.9921</c:v>
                </c:pt>
                <c:pt idx="14">
                  <c:v>0.9944</c:v>
                </c:pt>
                <c:pt idx="15">
                  <c:v>0.994</c:v>
                </c:pt>
                <c:pt idx="16">
                  <c:v>0.9944</c:v>
                </c:pt>
                <c:pt idx="17">
                  <c:v>0.9951</c:v>
                </c:pt>
                <c:pt idx="18">
                  <c:v>0.9955</c:v>
                </c:pt>
                <c:pt idx="19">
                  <c:v>0.9951</c:v>
                </c:pt>
                <c:pt idx="20">
                  <c:v>0.9959</c:v>
                </c:pt>
                <c:pt idx="21">
                  <c:v>0.9951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333333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111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11111"/>
                </a:solidFill>
                <a:latin typeface="Cambria"/>
              </a:rPr>
              <a:t>Validation loss per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loss</c:v>
                </c:pt>
              </c:strCache>
            </c:strRef>
          </c:tx>
          <c:spPr>
            <a:solidFill>
              <a:srgbClr val="111111"/>
            </a:solidFill>
            <a:ln w="31750" cap="flat">
              <a:solidFill>
                <a:srgbClr val="1111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11111"/>
              </a:solidFill>
              <a:ln w="9525" cap="flat">
                <a:solidFill>
                  <a:srgbClr val="1111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1</c:v>
                  </c:pt>
                  <c:pt idx="1">
                    <c:v>5</c:v>
                  </c:pt>
                  <c:pt idx="2">
                    <c:v>9</c:v>
                  </c:pt>
                  <c:pt idx="3">
                    <c:v>13</c:v>
                  </c:pt>
                  <c:pt idx="4">
                    <c:v>17</c:v>
                  </c:pt>
                  <c:pt idx="5">
                    <c:v>21</c:v>
                  </c:pt>
                  <c:pt idx="6">
                    <c:v>25</c:v>
                  </c:pt>
                  <c:pt idx="7">
                    <c:v>29</c:v>
                  </c:pt>
                  <c:pt idx="8">
                    <c:v>33</c:v>
                  </c:pt>
                  <c:pt idx="9">
                    <c:v>37</c:v>
                  </c:pt>
                  <c:pt idx="10">
                    <c:v>41</c:v>
                  </c:pt>
                  <c:pt idx="11">
                    <c:v>45</c:v>
                  </c:pt>
                  <c:pt idx="12">
                    <c:v>49</c:v>
                  </c:pt>
                  <c:pt idx="13">
                    <c:v>53</c:v>
                  </c:pt>
                  <c:pt idx="14">
                    <c:v>57</c:v>
                  </c:pt>
                  <c:pt idx="15">
                    <c:v>61</c:v>
                  </c:pt>
                  <c:pt idx="16">
                    <c:v>65</c:v>
                  </c:pt>
                  <c:pt idx="17">
                    <c:v>69</c:v>
                  </c:pt>
                  <c:pt idx="18">
                    <c:v>73</c:v>
                  </c:pt>
                  <c:pt idx="19">
                    <c:v>77</c:v>
                  </c:pt>
                  <c:pt idx="20">
                    <c:v>81</c:v>
                  </c:pt>
                  <c:pt idx="21">
                    <c:v>83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2.8585</c:v>
                </c:pt>
                <c:pt idx="1">
                  <c:v>0.2998</c:v>
                </c:pt>
                <c:pt idx="2">
                  <c:v>0.2719</c:v>
                </c:pt>
                <c:pt idx="3">
                  <c:v>0.114</c:v>
                </c:pt>
                <c:pt idx="4">
                  <c:v>0.1165</c:v>
                </c:pt>
                <c:pt idx="5">
                  <c:v>0.0834</c:v>
                </c:pt>
                <c:pt idx="6">
                  <c:v>0.119</c:v>
                </c:pt>
                <c:pt idx="7">
                  <c:v>0.0736</c:v>
                </c:pt>
                <c:pt idx="8">
                  <c:v>0.0464</c:v>
                </c:pt>
                <c:pt idx="9">
                  <c:v>0.0509</c:v>
                </c:pt>
                <c:pt idx="10">
                  <c:v>0.034</c:v>
                </c:pt>
                <c:pt idx="11">
                  <c:v>0.0599</c:v>
                </c:pt>
                <c:pt idx="12">
                  <c:v>0.0378</c:v>
                </c:pt>
                <c:pt idx="13">
                  <c:v>0.0323</c:v>
                </c:pt>
                <c:pt idx="14">
                  <c:v>0.0253</c:v>
                </c:pt>
                <c:pt idx="15">
                  <c:v>0.0249</c:v>
                </c:pt>
                <c:pt idx="16">
                  <c:v>0.0241</c:v>
                </c:pt>
                <c:pt idx="17">
                  <c:v>0.02</c:v>
                </c:pt>
                <c:pt idx="18">
                  <c:v>0.021</c:v>
                </c:pt>
                <c:pt idx="19">
                  <c:v>0.0214</c:v>
                </c:pt>
                <c:pt idx="20">
                  <c:v>0.0195</c:v>
                </c:pt>
                <c:pt idx="21">
                  <c:v>0.0192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333333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11111"/>
                </a:solidFill>
                <a:latin typeface="Cambria"/>
              </a:defRPr>
            </a:pPr>
            <a:r>
              <a:rPr sz="1250" b="0" i="0" u="none" strike="noStrike">
                <a:solidFill>
                  <a:srgbClr val="111111"/>
                </a:solidFill>
                <a:latin typeface="Cambria"/>
              </a:rPr>
              <a:t>Per-class mAP@0.5 — the rare classes are what hold the average down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mAP@0.5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5E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E5E5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late blight</c:v>
                  </c:pt>
                  <c:pt idx="1">
                    <c:v>leaf miner</c:v>
                  </c:pt>
                  <c:pt idx="2">
                    <c:v>magnesium deficiency</c:v>
                  </c:pt>
                  <c:pt idx="3">
                    <c:v>nitrogen deficiency</c:v>
                  </c:pt>
                  <c:pt idx="4">
                    <c:v>potassium deficiency</c:v>
                  </c:pt>
                  <c:pt idx="5">
                    <c:v>spotted wilt virus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0.4374</c:v>
                </c:pt>
                <c:pt idx="1">
                  <c:v>0.4333</c:v>
                </c:pt>
                <c:pt idx="2">
                  <c:v>0.5505</c:v>
                </c:pt>
                <c:pt idx="3">
                  <c:v>0.157</c:v>
                </c:pt>
                <c:pt idx="4">
                  <c:v>0.2341</c:v>
                </c:pt>
                <c:pt idx="5">
                  <c:v>0.5417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-2100000"/>
          <a:lstStyle/>
          <a:p>
            <a:pPr>
              <a:defRPr sz="10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TomaNet: one TomaBlock-based trunk, two heads. TomaNet-C is complete and highly accurate; TomaNet-D is trained and running but still in the tuning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Reserved slide: paste the hand-drawn / draw.io system architecture diagram full-bleed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grid is drawn from the model's own test-split output because the raw PlantVillage images are not in the repo. Swap it for a curated one-image-per-class grid when those files are available — same position and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Ground-truth boxes are drawn straight from the Tomato-Village label files; predictions are TomaNet-D-m at confidence 0.35. Box colours are per class and match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image" Target="../media/image-20-5.jpg"/><Relationship Id="rId6" Type="http://schemas.openxmlformats.org/officeDocument/2006/relationships/image" Target="../media/image-20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image" Target="../media/image-2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image" Target="../media/image-2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image" Target="../media/image-27-3.jpg"/><Relationship Id="rId4" Type="http://schemas.openxmlformats.org/officeDocument/2006/relationships/image" Target="../media/image-2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206240"/>
            <a:ext cx="3291840" cy="329184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1005840"/>
            <a:ext cx="2011680" cy="2011680"/>
          </a:xfrm>
          <a:prstGeom prst="ellipse">
            <a:avLst/>
          </a:prstGeom>
          <a:solidFill>
            <a:srgbClr val="EBEBEB"/>
          </a:solidFill>
          <a:ln/>
        </p:spPr>
      </p:sp>
      <p:sp>
        <p:nvSpPr>
          <p:cNvPr id="4" name="Shape 2"/>
          <p:cNvSpPr/>
          <p:nvPr/>
        </p:nvSpPr>
        <p:spPr>
          <a:xfrm>
            <a:off x="11475720" y="3200400"/>
            <a:ext cx="566928" cy="56692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REVIEW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1783080"/>
            <a:ext cx="8595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3D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lightweight shared trunk for both tomato disease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3D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and in-field disease localisation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7589520" cy="868680"/>
          </a:xfrm>
          <a:prstGeom prst="roundRect">
            <a:avLst>
              <a:gd name="adj" fmla="val 6316"/>
            </a:avLst>
          </a:prstGeom>
          <a:solidFill>
            <a:srgbClr val="F2F2F2"/>
          </a:solidFill>
          <a:ln w="9525">
            <a:solidFill>
              <a:srgbClr val="5E5E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40690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TomaNet-C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99.63% test accuracy on PlantVillage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TomaNet-D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· mAP@0.5 0.392 on Tomato-Village (in testing)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138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TomaBlock  ·  Partial Convolution + Coordinate Attention + re-parameterisation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WHY TOMATO DISEASE DETECTION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15184" cy="1298448"/>
          </a:xfrm>
          <a:prstGeom prst="roundRect">
            <a:avLst>
              <a:gd name="adj" fmla="val 4225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9616"/>
            <a:ext cx="2432304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 Mt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150669"/>
            <a:ext cx="2468880" cy="42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tomato production each year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74136" y="1371600"/>
            <a:ext cx="2615184" cy="1298448"/>
          </a:xfrm>
          <a:prstGeom prst="roundRect">
            <a:avLst>
              <a:gd name="adj" fmla="val 4225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499616"/>
            <a:ext cx="2432304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2150669"/>
            <a:ext cx="2468880" cy="42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affect the tomato plant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9632" y="1371600"/>
            <a:ext cx="2615184" cy="1298448"/>
          </a:xfrm>
          <a:prstGeom prst="roundRect">
            <a:avLst>
              <a:gd name="adj" fmla="val 4225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1072" y="1499616"/>
            <a:ext cx="2432304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20–80%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2150669"/>
            <a:ext cx="2468880" cy="42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loss in an affected region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25128" y="1371600"/>
            <a:ext cx="2615184" cy="1298448"/>
          </a:xfrm>
          <a:prstGeom prst="roundRect">
            <a:avLst>
              <a:gd name="adj" fmla="val 4225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16568" y="1499616"/>
            <a:ext cx="2432304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40–100%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150669"/>
            <a:ext cx="2468880" cy="42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in severe Leaf Curl Virus outbreaks in India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5468112" cy="3200400"/>
          </a:xfrm>
          <a:prstGeom prst="roundRect">
            <a:avLst>
              <a:gd name="adj" fmla="val 1714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1272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today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529584"/>
            <a:ext cx="4956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still depends on expert visual inspection — slow, subjective and scarce in the field.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symptoms are small, faint and easy to miss with the naked eye.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leaf often carries more than one problem at once, so a single label is not enough.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disease is obvious, a large share of the yield is already lost.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2926080"/>
            <a:ext cx="5285232" cy="3200400"/>
          </a:xfrm>
          <a:prstGeom prst="roundRect">
            <a:avLst>
              <a:gd name="adj" fmla="val 1714"/>
            </a:avLst>
          </a:prstGeom>
          <a:solidFill>
            <a:srgbClr val="F2F2F2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11112" y="31272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deep learning changes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611112" y="3529584"/>
            <a:ext cx="47914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reads a leaf photo and returns a disease name in milliseconds.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 goes further: it draws a box around every diseased region on a whole plant.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model runs on an ordinary phone — no data-centre GPU, no connectivity.</a:t>
            </a:r>
            <a:endParaRPr lang="en-US" sz="13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early diagnosis, lower crop loss, and timely decisions in the farmer's own hand.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PRIOR WORK  (1 OF 5)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2788920"/>
                <a:gridCol w="2514600"/>
                <a:gridCol w="37033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(Year)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 / observation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Wspanialy &amp; Moussa (2020)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 classifier + modified U-Net for severity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PlantVillage, 9 tomato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disease-severity estimation. Flags PlantVillage background and lighting bias — real greenhouse/field data needed.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Thuseethan et al.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Siamese network + lightweight CNN, contrastive loss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14,531 (10 cls); Taiwan 622 (6 cls)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96.97% and 95.48% accuracy. Edge-friendly, but real-field conditions untested.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Oni &amp; Prama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CNN vs YOLOv5, MobileNetV2, ResNet18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images, Brahmanbaria, Bangladesh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CNN 95.2% beats YOLOv5 77%, MobileNetV2 89.4%, ResNet18 71.9%.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 &amp; Le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MobileH-Transformer (CNN + Transformer hybrid)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10,008 (11 cls) + corn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96.80% F1 and 30.5 FPS on a phone — real-time mobile inference is feasible.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Karegowda, Jain &amp; Devika 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/ Faster R-CNN detection → SVM / 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 leaf disease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90–95% accuracy with a farmer-facing mobile app; weak under varied light and severity.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Literature Survey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PRIOR WORK  (2 OF 5)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2788920"/>
                <a:gridCol w="2514600"/>
                <a:gridCol w="37033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(Year)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 / observation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Hosen &amp; Islam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VGG19 and InceptionV3 with dropout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Tomato-Villages, 4,525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93.93% accuracy with dropout — confirms field data is materially harder than lab data.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Anu, Solanki &amp; Dhankar (2023)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+ Gaussian blur + Canny → CNN (ReLU vs Leaky-ReLU)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~10,000 images, 10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Leaky-ReLU 95.08% vs ReLU 92.76% — activation choice measurably matters.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Trivedi et al. 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with preprocessing, segmentation, hyper-parameter tuning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 images, 9 diseases + healthy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98.49% accuracy on colour, texture and edge features.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Nyasulu et al. (2023)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GLCM texture features + ANN / KNN / RF / 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fungal diseases (Alternaria, Curvularia, ...)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best at 94%. Confuses Helminthosporium with Curvularia — visually similar classes.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 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AlexNet CNN, Adam, 64×64 RGB, Android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22,930 images, 10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~98% accuracy (P 0.98 / R 0.99 / F1 0.98) running inside a mobile application.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Literature Survey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PRIOR WORK  (3 OF 5)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2788920"/>
                <a:gridCol w="2514600"/>
                <a:gridCol w="37033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(Year)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 / observation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Harakannanavar et al. 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+ contour + DWT / PCA / GLCM → SVM, KNN, CNN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leaf set incl. tomato, 256×256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99.6% clearly ahead of KNN and SVM on the same features.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Maeda-Gutiérrez et al. (2020)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learning: AlexNet, GoogleNet, InceptionV3, ResNet-18/50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18,160 images, 10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GoogleNet best: 99.39% accuracy, 99.72% AUC. InceptionV3 lowest at 98.65%.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Hussein et al. (2023)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Coordinate Attention mechanism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 leaf disease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steers the CNN onto lesion regions and subtle symptoms — direct precedent for our block.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Abbas et al. 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GAN synthetic images + DenseNet121 transfer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PlantVillage, 5 / 7 / 10 class setups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99.51% / 98.65% / 97.11%. Synthetic augmentation improves generalisation.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 et al. 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 + CLAHE enhancement + runtime augmentation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18,160 images, 10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99.30% at only 9.60 MB and 4.87 MFLOPs — the lightweight-CNN benchmark to beat.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Literature Survey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PRIOR WORK  (4 OF 5)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2788920"/>
                <a:gridCol w="2514600"/>
                <a:gridCol w="37033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(Year)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 / observation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Al-Shamasneh &amp; Ibrahim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Conformable-polynomial texture features + 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~18,200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98.80% from texture features alone, with no deep network at all.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et al. 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TD-MobileNetV2 tuned for imbalanced samples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1,890 images, 3 disease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~97.33% while staying lightweight — imbalance can be handled architecturally.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Shoaib et al. 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U-Net segmentation → InceptionNet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18,161, segmented + raw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98.66% segmentation; 99.95% binary and 99.12% six-class classification.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Gangwar et al.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Swift-Lite-CvT (VGG16 + ViT + CvT hybrid)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11 / 13 class sets, varied backgrounds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93.51% on 13 classes at 5.8 MB and 44 min training — aimed at IoT and drones.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Karim et al.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MobileNetV3-Large + Grad-CAM on an edge device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Grapevine, 9,027 images, 4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Edge-AI plus visual explanation; the recipe transfers directly to tomato.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Literature Survey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PRIOR WORK  (5 OF 5)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2788920"/>
                <a:gridCol w="2514600"/>
                <a:gridCol w="37033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(Year)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 / observation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Masud et al.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with transfer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 leaf disease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 classifies reliably while cutting training requirements.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Çatal Reis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DenseNet201 + CoAtNet + FasterNet + FastViT + WaveMLP, voting + CLAHE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classes, 900 test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4 of 900 misclassified (~99.56%) — but on just three easy classes.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Junare et al.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R-CNN instance segmentation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Self-collected images, 1024×1024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Pixel-level localisation of diseased regions, though not tomato-specific.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Wang, Liu &amp; Liu 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detection under occlusion and overlap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 leaves with occluded / overlapping views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leaf overlap — the exact failure mode of real field photography.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Literature Survey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WHAT 24 PAPERS STILL LEAVE OPEN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91056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57276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without localisation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31136"/>
            <a:ext cx="30723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models name the disease but never say where it is — no boxes, no segmentation, no severity number. [2][16][22][31]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37160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2856" y="1591056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2856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157276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Collapse on real field photos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2231136"/>
            <a:ext cx="30723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falls sharply under changing light, cluttered backgrounds and overlapping leaves. [3][23][26][27]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37160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591056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851392" y="157276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datasets and hidden leakage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231136"/>
            <a:ext cx="30723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plain backgrounds dominate; duplicate and augmented images leak across splits, inflating reported scores. [1][3][6][25][26]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3922776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390448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generalisation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562856"/>
            <a:ext cx="30723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overfit one dataset and fail on other varieties, other crops and unseen disease variants. [2][4][5][8][19][20]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25112" y="370332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62856" y="3922776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6285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390448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disease at a time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562856"/>
            <a:ext cx="30723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cannot report two or more co-occurring problems on the same leaf, which is the normal field case. [23][26][27][31]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01584" y="370332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3922776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39328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8851392" y="390448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Narrow, single-task scope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57616" y="4562856"/>
            <a:ext cx="30723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disease-specific and single-task; no temporal tracking, no shared model across classification and detection. [1][20][28][29][30]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Research Gap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THE QUESTION THIS PROJECT ANSWERS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6675120" cy="2286000"/>
          </a:xfrm>
          <a:prstGeom prst="roundRect">
            <a:avLst>
              <a:gd name="adj" fmla="val 2400"/>
            </a:avLst>
          </a:prstGeom>
          <a:solidFill>
            <a:srgbClr val="F2F2F2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4592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900" dirty="0">
                <a:solidFill>
                  <a:srgbClr val="3D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Tomato crops lose 20–80% of yield to disease, yet the tools that could catch it early either </a:t>
            </a:r>
            <a:pPr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disease without locating it</a:t>
            </a:r>
            <a:pPr indent="0" marL="0">
              <a:lnSpc>
                <a:spcPct val="128000"/>
              </a:lnSpc>
              <a:buNone/>
            </a:pPr>
            <a:r>
              <a:rPr lang="en-US" sz="1900" dirty="0">
                <a:solidFill>
                  <a:srgbClr val="3D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or are </a:t>
            </a:r>
            <a:pPr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heavy to run where the crop actually grows</a:t>
            </a:r>
            <a:pPr indent="0" marL="0">
              <a:lnSpc>
                <a:spcPct val="128000"/>
              </a:lnSpc>
              <a:buNone/>
            </a:pPr>
            <a:r>
              <a:rPr lang="en-US" sz="1900" dirty="0">
                <a:solidFill>
                  <a:srgbClr val="3D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543800" y="1389888"/>
            <a:ext cx="4096512" cy="2286000"/>
          </a:xfrm>
          <a:prstGeom prst="roundRect">
            <a:avLst>
              <a:gd name="adj" fmla="val 2400"/>
            </a:avLst>
          </a:prstGeom>
          <a:solidFill>
            <a:srgbClr val="F2F2F2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99832" y="1591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constraints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99832" y="1956816"/>
            <a:ext cx="360273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edge compute budget</a:t>
            </a:r>
            <a:endParaRPr lang="en-US" sz="12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field imagery, not only lab photos</a:t>
            </a:r>
            <a:endParaRPr lang="en-US" sz="12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lesions per image</a:t>
            </a:r>
            <a:endParaRPr lang="en-US" sz="12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that cannot be inflated by leakage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13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lightweight unified deep-learning framework in which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61104"/>
            <a:ext cx="5312664" cy="1298448"/>
          </a:xfrm>
          <a:prstGeom prst="roundRect">
            <a:avLst>
              <a:gd name="adj" fmla="val 4225"/>
            </a:avLst>
          </a:prstGeom>
          <a:solidFill>
            <a:srgbClr val="F2F2F2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663440"/>
            <a:ext cx="493776" cy="493776"/>
          </a:xfrm>
          <a:prstGeom prst="ellipse">
            <a:avLst/>
          </a:prstGeom>
          <a:solidFill>
            <a:srgbClr val="3D3D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81328" y="4480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TomaNet-C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480974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disease from a single tomato leaf image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27648" y="4261104"/>
            <a:ext cx="5312664" cy="1298448"/>
          </a:xfrm>
          <a:prstGeom prst="roundRect">
            <a:avLst>
              <a:gd name="adj" fmla="val 4225"/>
            </a:avLst>
          </a:prstGeom>
          <a:solidFill>
            <a:srgbClr val="F2F2F2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01968" y="4663440"/>
            <a:ext cx="493776" cy="49377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60336" y="4480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TomaNet-D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260336" y="480974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and localises multiple diseased regions on a whole plant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0585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both built on the same TomaBlock-based trunk, so accuracy, efficiency and reliable evaluation are achieved once and reused twice.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Problem Statement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WHAT WE SET OUT TO BUILD AND PROVE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4264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TomaBlock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737360"/>
            <a:ext cx="5138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block combining Partial Convolution, Coordinate Attention and RepVGG-style re-parameterisation.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7648" y="1481328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27648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94576" y="14264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two models on one trunk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94576" y="1737360"/>
            <a:ext cx="5138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TomaNet-C and TomaNet-D on a byte-identical shared trunk, at three scales (n / s / m).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715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660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Curate and repair the data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2971800"/>
            <a:ext cx="5138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PlantVillage (18,160 leaves, 10 classes) and Tomato-Village (14,259 field images, 6 box classes); remove the authors' train/test leakage.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27648" y="2715768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27648" y="2715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894576" y="2660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and verify TomaNet-C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94576" y="2971800"/>
            <a:ext cx="5138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accuracy, macro-F1, Cohen's κ, MCC and a per-class breakdown — not accuracy alone.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402336" cy="402336"/>
          </a:xfrm>
          <a:prstGeom prst="ellipse">
            <a:avLst/>
          </a:prstGeom>
          <a:solidFill>
            <a:srgbClr val="5E5E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38953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the trunk across tasks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206240"/>
            <a:ext cx="5138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 TomaNet-D from the trained classification trunk and measure whether cross-task transfer actually helps.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27648" y="3950208"/>
            <a:ext cx="402336" cy="402336"/>
          </a:xfrm>
          <a:prstGeom prst="ellipse">
            <a:avLst/>
          </a:prstGeom>
          <a:solidFill>
            <a:srgbClr val="5E5E5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27648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894576" y="38953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detection honestly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94576" y="4206240"/>
            <a:ext cx="5138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mAP@0.5 and mAP@0.5:0.95 per class, on the leakage-free split only.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184648"/>
            <a:ext cx="402336" cy="402336"/>
          </a:xfrm>
          <a:prstGeom prst="ellipse">
            <a:avLst/>
          </a:prstGeom>
          <a:solidFill>
            <a:srgbClr val="5E5E5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5184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" y="51297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 TomaNet-D to close the gap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" y="5440680"/>
            <a:ext cx="5138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batch size, epochs, LR schedule and augmentation; pre-process Tomato-Village if tuning alone is not enough.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27648" y="5184648"/>
            <a:ext cx="402336" cy="402336"/>
          </a:xfrm>
          <a:prstGeom prst="ellipse">
            <a:avLst/>
          </a:prstGeom>
          <a:solidFill>
            <a:srgbClr val="5E5E5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27648" y="5184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894576" y="51297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it deployable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894576" y="5440680"/>
            <a:ext cx="5138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the re-parameterised branches before export so the shipped model pays no extra inference cost.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Objectives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HOW EACH OBJECTIVE ANSWERS A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Research Gaps vs. TomaNet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702259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in existing research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TomaNet answers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studies address classification only.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TomaNet-C and TomaNet-D share one TomaBlock-based trunk — a single feature extractor serves both tasks, and an automated test asserts the two trunks are identical.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give a disease label but not its location.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TomaNet-D performs object detection: disease type plus a bounding box around every infected region, several per image.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CNN and Transformer models will not run on a phone.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Convolution cuts memory movement and re-parameterisation folds three training-time branches into one at deployment — 1.32 M params at the smallest classification scale.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models lose the spatial detail that small lesions need.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 Attention keeps positional information instead of collapsing it, which is what small localised symptoms depend 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 on plain-background PlantVillage images.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and evaluated on both lab data (PlantVillage) and real field data from Rajasthan (Tomato-Village).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leakage inflates reported accuracy.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corrected, leakage-free split for Tomato-Village keeps every augmented copy of a photo on one side of the split.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Objectives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749040"/>
            <a:ext cx="4023360" cy="402336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574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5E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7800" dirty="0"/>
          </a:p>
        </p:txBody>
      </p:sp>
      <p:sp>
        <p:nvSpPr>
          <p:cNvPr id="4" name="Text 2"/>
          <p:cNvSpPr txBox="1"/>
          <p:nvPr/>
        </p:nvSpPr>
        <p:spPr>
          <a:xfrm>
            <a:off x="786384" y="3063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13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3D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TomaBlock → shared trunk → two task heads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Proposed Methodology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VISUAL DIAGRAM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 — 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1672" cy="4718304"/>
          </a:xfrm>
          <a:prstGeom prst="roundRect">
            <a:avLst>
              <a:gd name="adj" fmla="val 775"/>
            </a:avLst>
          </a:prstGeom>
          <a:solidFill>
            <a:srgbClr val="FCFCFC"/>
          </a:solidFill>
          <a:ln w="15875">
            <a:solidFill>
              <a:srgbClr val="CCCCC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097280" y="3529584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insert the TomaNet system architecture diagram here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Proposed Methodology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END-TO-END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Processes an Image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402336" cy="402336"/>
          </a:xfrm>
          <a:prstGeom prst="ellipse">
            <a:avLst/>
          </a:prstGeom>
          <a:solidFill>
            <a:srgbClr val="5E5E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35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408176"/>
            <a:ext cx="8257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leaf photos and Tomato-Village field photos from Rajasthan.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" y="1856232"/>
            <a:ext cx="0" cy="320040"/>
          </a:xfrm>
          <a:prstGeom prst="line">
            <a:avLst/>
          </a:prstGeom>
          <a:noFill/>
          <a:ln w="15875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40280"/>
            <a:ext cx="402336" cy="402336"/>
          </a:xfrm>
          <a:prstGeom prst="ellipse">
            <a:avLst/>
          </a:prstGeom>
          <a:solidFill>
            <a:srgbClr val="5E5E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94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de-duplicate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212848"/>
            <a:ext cx="8257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every image, group augmented copies of the same original, then split so no copy crosses train/test.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2660904"/>
            <a:ext cx="0" cy="320040"/>
          </a:xfrm>
          <a:prstGeom prst="line">
            <a:avLst/>
          </a:prstGeom>
          <a:noFill/>
          <a:ln w="15875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44952"/>
            <a:ext cx="402336" cy="402336"/>
          </a:xfrm>
          <a:prstGeom prst="ellipse">
            <a:avLst/>
          </a:prstGeom>
          <a:solidFill>
            <a:srgbClr val="5E5E5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2999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Pre-process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017520"/>
            <a:ext cx="8257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224 px (classification) or 800 px (detection); leaf-safe augmentation — flips, mild colour jitter, no distortion that destroys a lesion.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" y="3465576"/>
            <a:ext cx="0" cy="320040"/>
          </a:xfrm>
          <a:prstGeom prst="line">
            <a:avLst/>
          </a:prstGeom>
          <a:noFill/>
          <a:ln w="15875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849624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3803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trunk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822192"/>
            <a:ext cx="8257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passes through stacked TomaLayers built from TomaBlock — identical layers for both tasks.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9808" y="4270248"/>
            <a:ext cx="0" cy="320040"/>
          </a:xfrm>
          <a:prstGeom prst="line">
            <a:avLst/>
          </a:prstGeom>
          <a:noFill/>
          <a:ln w="15875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46085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head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4626864"/>
            <a:ext cx="8257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global average pool → FC → softmax.  Detection: FPN-style neck → three detect heads at P3 / P4 / P5.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9808" y="5074920"/>
            <a:ext cx="0" cy="320040"/>
          </a:xfrm>
          <a:prstGeom prst="line">
            <a:avLst/>
          </a:prstGeom>
          <a:noFill/>
          <a:ln w="15875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458968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5458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" y="5413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3383280" y="5431536"/>
            <a:ext cx="8257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macro-F1, κ, MCC for TomaNet-C; precision, recall, mAP@0.5 and mAP@0.5:0.95 for TomaNet-D.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Proposed Methodology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THE IDEA IN ONE SLIDE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TomaNet, and Why is it Different?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969264"/>
          </a:xfrm>
          <a:prstGeom prst="roundRect">
            <a:avLst>
              <a:gd name="adj" fmla="val 566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17904"/>
            <a:ext cx="10543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 is one small convolutional design built from a single reusable brick, TomaBlock. </a:t>
            </a:r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brick stacks into the same trunk for both tasks — literally the same list of layers, asserted by an automated test — so a trunk trained to classify can jump-start a trunk that detects.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2615184" cy="2962656"/>
          </a:xfrm>
          <a:prstGeom prst="roundRect">
            <a:avLst>
              <a:gd name="adj" fmla="val 2098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724912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20040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Convolution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3712464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Convolve only a quarter of the channels. The real bottleneck on a phone is memory movement, not arithmetic — so this keeps the model fast and light.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515721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FasterNet, CVPR 2023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74136" y="2542032"/>
            <a:ext cx="2615184" cy="2962656"/>
          </a:xfrm>
          <a:prstGeom prst="roundRect">
            <a:avLst>
              <a:gd name="adj" fmla="val 2098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2724912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93592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320040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 Attention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712464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Lesions are small and appear in specific places. Channel-only attention throws that away; Coordinate Attention keeps track of where on the leaf something is wrong.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515721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 et al., CVPR 2021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99632" y="2542032"/>
            <a:ext cx="2615184" cy="2962656"/>
          </a:xfrm>
          <a:prstGeom prst="roundRect">
            <a:avLst>
              <a:gd name="adj" fmla="val 2098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2724912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9088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320040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Re-parameterisation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3712464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branches during training help it learn; they fold mathematically into one branch before deployment, so inference pays nothing. Verified numerically exact in our tests.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19088" y="515721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RepVGG, CVPR 2021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25128" y="2542032"/>
            <a:ext cx="2615184" cy="2962656"/>
          </a:xfrm>
          <a:prstGeom prst="roundRect">
            <a:avLst>
              <a:gd name="adj" fmla="val 2098"/>
            </a:avLst>
          </a:prstGeom>
          <a:solidFill>
            <a:srgbClr val="F2F2F2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4584" y="2724912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44584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244584" y="320040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trunk, two jobs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9244584" y="3712464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uncommon part. Most tomato work builds a separate model per task; here classification and detection share the trunk byte-for-byte and transfer between each other.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244584" y="515721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68756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779008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parameter counts   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TomaNet-C  1.32 M (n) · 4.47 M (s) · 14.44 M (m)        TomaNet-D  2.92 M (n) · 10.64 M (s) · 30.79 M (m)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Proposed Methodology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THE SHARED BRICK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TomaBlock Inside TomaNet-C and TomaNet-D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one TomaBlock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1956816" cy="713232"/>
          </a:xfrm>
          <a:prstGeom prst="roundRect">
            <a:avLst>
              <a:gd name="adj" fmla="val 8974"/>
            </a:avLst>
          </a:prstGeom>
          <a:solidFill>
            <a:srgbClr val="F5F5F5"/>
          </a:solidFill>
          <a:ln w="12700">
            <a:solidFill>
              <a:srgbClr val="5E5E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739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RepPConv 3×3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4825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 channels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05456" y="2057400"/>
            <a:ext cx="292608" cy="0"/>
          </a:xfrm>
          <a:prstGeom prst="line">
            <a:avLst/>
          </a:prstGeom>
          <a:noFill/>
          <a:ln w="15875">
            <a:solidFill>
              <a:srgbClr val="5E5E5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98064" y="1700784"/>
            <a:ext cx="1956816" cy="713232"/>
          </a:xfrm>
          <a:prstGeom prst="roundRect">
            <a:avLst>
              <a:gd name="adj" fmla="val 8974"/>
            </a:avLst>
          </a:prstGeom>
          <a:solidFill>
            <a:srgbClr val="F5F5F5"/>
          </a:solidFill>
          <a:ln w="12700">
            <a:solidFill>
              <a:srgbClr val="5E5E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98064" y="17739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expand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798064" y="204825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 width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057400"/>
            <a:ext cx="292608" cy="0"/>
          </a:xfrm>
          <a:prstGeom prst="line">
            <a:avLst/>
          </a:prstGeom>
          <a:noFill/>
          <a:ln w="15875">
            <a:solidFill>
              <a:srgbClr val="5E5E5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47488" y="1700784"/>
            <a:ext cx="1956816" cy="713232"/>
          </a:xfrm>
          <a:prstGeom prst="roundRect">
            <a:avLst>
              <a:gd name="adj" fmla="val 8974"/>
            </a:avLst>
          </a:prstGeom>
          <a:solidFill>
            <a:srgbClr val="F5F5F5"/>
          </a:solidFill>
          <a:ln w="12700">
            <a:solidFill>
              <a:srgbClr val="5E5E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47488" y="17739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DWConv k×k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47488" y="204825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mixing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04304" y="2057400"/>
            <a:ext cx="292608" cy="0"/>
          </a:xfrm>
          <a:prstGeom prst="line">
            <a:avLst/>
          </a:prstGeom>
          <a:noFill/>
          <a:ln w="15875">
            <a:solidFill>
              <a:srgbClr val="5E5E5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96912" y="1700784"/>
            <a:ext cx="1956816" cy="713232"/>
          </a:xfrm>
          <a:prstGeom prst="roundRect">
            <a:avLst>
              <a:gd name="adj" fmla="val 8974"/>
            </a:avLst>
          </a:prstGeom>
          <a:solidFill>
            <a:srgbClr val="E9E9E9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96912" y="17739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CoordAtt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96912" y="204825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where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53728" y="2057400"/>
            <a:ext cx="292608" cy="0"/>
          </a:xfrm>
          <a:prstGeom prst="line">
            <a:avLst/>
          </a:prstGeom>
          <a:noFill/>
          <a:ln w="15875">
            <a:solidFill>
              <a:srgbClr val="5E5E5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46336" y="1700784"/>
            <a:ext cx="1956816" cy="713232"/>
          </a:xfrm>
          <a:prstGeom prst="roundRect">
            <a:avLst>
              <a:gd name="adj" fmla="val 8974"/>
            </a:avLst>
          </a:prstGeom>
          <a:solidFill>
            <a:srgbClr val="F5F5F5"/>
          </a:solidFill>
          <a:ln w="12700">
            <a:solidFill>
              <a:srgbClr val="5E5E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46336" y="17739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project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546336" y="204825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c₂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0" y="2487168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residual when c₁ = c₂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2926080"/>
            <a:ext cx="3200400" cy="2788920"/>
          </a:xfrm>
          <a:prstGeom prst="roundRect">
            <a:avLst>
              <a:gd name="adj" fmla="val 2295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trunk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3511296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3×3/2  ×2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TomaLayer ×2   (128)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TomaLayer ×4   (256)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TomaLayer ×4   (512)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TomaLayer ×2  (1024)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138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layer list for both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— asserted by a unit test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749040" y="3529584"/>
            <a:ext cx="457200" cy="0"/>
          </a:xfrm>
          <a:prstGeom prst="line">
            <a:avLst/>
          </a:prstGeom>
          <a:noFill/>
          <a:ln w="2222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224528" y="2926080"/>
            <a:ext cx="7415784" cy="1325880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43984" y="30723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TomaNet-C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309067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  →  FC  →  softmax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443984" y="3456432"/>
            <a:ext cx="6986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disease name per leaf image, with a confidence score. 224×224 input.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443984" y="3913632"/>
            <a:ext cx="6986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bacterial_spot 0.99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749040" y="4992624"/>
            <a:ext cx="457200" cy="0"/>
          </a:xfrm>
          <a:prstGeom prst="line">
            <a:avLst/>
          </a:prstGeom>
          <a:noFill/>
          <a:ln w="2222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224528" y="4389120"/>
            <a:ext cx="7415784" cy="1325880"/>
          </a:xfrm>
          <a:prstGeom prst="roundRect">
            <a:avLst>
              <a:gd name="adj" fmla="val 4138"/>
            </a:avLst>
          </a:prstGeom>
          <a:solidFill>
            <a:srgbClr val="E9E9E9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43984" y="45354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TomaNet-D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355080" y="455371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FPN neck  →  detect heads at P3 / P4 / P5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443984" y="4919472"/>
            <a:ext cx="6986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boxes per plant image, each with a class and score. 800×800 input.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443984" y="5376672"/>
            <a:ext cx="6986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leaf_miner 0.73 × 5 boxes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24528" y="5870448"/>
            <a:ext cx="7415784" cy="38404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443984" y="5907024"/>
            <a:ext cx="6986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trunk is the same object, the PlantVillage-trained classifier was used directly to warm-start TomaNet-D.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Proposed Methodology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CLASSIFICATION BACKBONE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TomaNet-C — Layer-by-Layer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5" name="Image 0" descr="/home/devarshi/Desktop/tomato/figures/fig_tomanet_c_300dp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37360"/>
            <a:ext cx="10872216" cy="2514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00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TomaNet-C: two stem convolutions, four TomaLayer stages, global average pool, FC + softmax. The lower strip expands one TomaBlock.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5084064"/>
            <a:ext cx="3566160" cy="1170432"/>
          </a:xfrm>
          <a:prstGeom prst="roundRect">
            <a:avLst>
              <a:gd name="adj" fmla="val 4688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5212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Stem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55046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stride-2 3×3 convolutions take 224² down to 56² before any TomaBlock runs — cheap early downsampling.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25112" y="5084064"/>
            <a:ext cx="3566160" cy="1170432"/>
          </a:xfrm>
          <a:prstGeom prst="roundRect">
            <a:avLst>
              <a:gd name="adj" fmla="val 4688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2856" y="5212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62856" y="55046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→ 256 → 512 → 1024 channels. TomaNet-D taps the 256 and 512 stages as P3 and P4 for its neck.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01584" y="5084064"/>
            <a:ext cx="3566160" cy="1170432"/>
          </a:xfrm>
          <a:prstGeom prst="roundRect">
            <a:avLst>
              <a:gd name="adj" fmla="val 4688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39328" y="5212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339328" y="55046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pool removes the spatial dimensions, then a single FC layer maps 1024 features to the class scores.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Proposed Methodology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WHAT WE TRAIN AND TEST 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12664" cy="4736592"/>
          </a:xfrm>
          <a:prstGeom prst="roundRect">
            <a:avLst>
              <a:gd name="adj" fmla="val 1158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9344"/>
            <a:ext cx="457200" cy="45720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44752" y="15727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PlantVillage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88366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TomaNet-C · classification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235915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18,160 tomato leaves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2670048"/>
            <a:ext cx="475488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12848" y="27614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(9 diseases + healthy)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3072384"/>
            <a:ext cx="475488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3163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12848" y="316382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leaf, plain lab background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3474720"/>
            <a:ext cx="475488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12848" y="35661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" y="3877056"/>
            <a:ext cx="475488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212848" y="396849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2,692 images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1248" y="4279392"/>
            <a:ext cx="475488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4572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Near-saturated in the literature (99.4–99.96%), so we use it to prove the architecture trains correctly — not as a headline claim.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5596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10 / 20  train / val / test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27648" y="1371600"/>
            <a:ext cx="5312664" cy="4736592"/>
          </a:xfrm>
          <a:prstGeom prst="roundRect">
            <a:avLst>
              <a:gd name="adj" fmla="val 1158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1609344"/>
            <a:ext cx="457200" cy="45720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223760" y="15727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Tomato-Village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188366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TomaNet-D · detection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620256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991856" y="235915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14,259 usable field photos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20256" y="2670048"/>
            <a:ext cx="475488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20256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991856" y="27614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with real box annotations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20256" y="3072384"/>
            <a:ext cx="475488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20256" y="3163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991856" y="316382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fields, Rajasthan, India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0256" y="3474720"/>
            <a:ext cx="475488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20256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991856" y="35661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× 800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20256" y="3877056"/>
            <a:ext cx="475488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20256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991856" y="396849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3,536 images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20256" y="4279392"/>
            <a:ext cx="475488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20256" y="4572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field imagery: clutter, occlusion, harsh sun, several lesions per frame. The authors' own split leaks — we rebuilt it.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620256" y="5596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10 / 20  train / val / test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Dataset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WHAT TOMANET-C SEES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— PlantVillage Classes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492" y="1330452"/>
            <a:ext cx="8403336" cy="4526280"/>
          </a:xfrm>
          <a:prstGeom prst="roundRect">
            <a:avLst>
              <a:gd name="adj" fmla="val 101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5" name="Image 0" descr="/tmp/claude-1001/-home-devarshi-Desktop-tomato/ed5af88f-2111-467e-aed2-d77423886761/scratchpad/assets/pv_named_samp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321040" cy="44439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2531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PlantVillage test images with the class name printed above each leaf. Single leaf, plain lab background, 224 × 224 input.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144000" y="1371600"/>
            <a:ext cx="2496312" cy="4736592"/>
          </a:xfrm>
          <a:prstGeom prst="roundRect">
            <a:avLst>
              <a:gd name="adj" fmla="val 2198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363456" y="1536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classes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381744" y="1965960"/>
            <a:ext cx="137160" cy="1371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19488" y="19019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spot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844784" y="1901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n=315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381744" y="2359152"/>
            <a:ext cx="137160" cy="1371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19488" y="22951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blight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844784" y="22951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n=151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381744" y="2752344"/>
            <a:ext cx="137160" cy="137160"/>
          </a:xfrm>
          <a:prstGeom prst="ellipse">
            <a:avLst/>
          </a:prstGeom>
          <a:solidFill>
            <a:srgbClr val="3D3D3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619488" y="26883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0844784" y="26883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n=236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381744" y="3145536"/>
            <a:ext cx="137160" cy="1371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619488" y="3081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blight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0844784" y="3081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n=283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381744" y="3538728"/>
            <a:ext cx="137160" cy="1371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619488" y="3474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mold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0844784" y="34747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n=143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381744" y="3931920"/>
            <a:ext cx="137160" cy="1371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619488" y="38679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virus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0844784" y="38679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n=56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381744" y="4325112"/>
            <a:ext cx="137160" cy="1371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619488" y="42611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septoria leaf spot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10844784" y="42611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n=264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381744" y="4718304"/>
            <a:ext cx="137160" cy="1371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619488" y="46542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 mites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10844784" y="46542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n=247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381744" y="5111496"/>
            <a:ext cx="137160" cy="1371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619488" y="50474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spot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10844784" y="50474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n=210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9381744" y="5504688"/>
            <a:ext cx="137160" cy="1371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9619488" y="5440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leaf curl virus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10844784" y="5440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n=787</a:t>
            </a:r>
            <a:endParaRPr lang="en-US" sz="1050" dirty="0"/>
          </a:p>
        </p:txBody>
      </p:sp>
      <p:sp>
        <p:nvSpPr>
          <p:cNvPr id="40" name="Text 36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Dataset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WHAT TOMANET-D SEES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— Tomato-Village Classes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492" y="1330452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5" name="Image 0" descr="/tmp/claude-1001/-home-devarshi-Desktop-tomato/ed5af88f-2111-467e-aed2-d77423886761/scratchpad/assets/tvc_late_b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883664" cy="1883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57860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blight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2578608" y="23225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570732" y="1330452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9" name="Image 1" descr="/tmp/claude-1001/-home-devarshi-Desktop-tomato/ed5af88f-2111-467e-aed2-d77423886761/scratchpad/assets/tvc_leaf_min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371600"/>
            <a:ext cx="1883664" cy="18836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4184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leaf miner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641848" y="23225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18,316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633972" y="1330452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13" name="Image 2" descr="/tmp/claude-1001/-home-devarshi-Desktop-tomato/ed5af88f-2111-467e-aed2-d77423886761/scratchpad/assets/tvc_magnesium_deficienc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1883664" cy="18836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70508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magnesium deficiency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8705088" y="23225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2,356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7492" y="3726180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17" name="Image 3" descr="/tmp/claude-1001/-home-devarshi-Desktop-tomato/ed5af88f-2111-467e-aed2-d77423886761/scratchpad/assets/tvc_nitrogen_deficiency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67328"/>
            <a:ext cx="1883664" cy="18836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578608" y="4224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nitrogen deficiency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2578608" y="47183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570732" y="3726180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21" name="Image 4" descr="/tmp/claude-1001/-home-devarshi-Desktop-tomato/ed5af88f-2111-467e-aed2-d77423886761/scratchpad/assets/tvc_potassium_deficiency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767328"/>
            <a:ext cx="1883664" cy="188366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641848" y="4224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potassium deficiency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5641848" y="47183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633972" y="3726180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25" name="Image 5" descr="/tmp/claude-1001/-home-devarshi-Desktop-tomato/ed5af88f-2111-467e-aed2-d77423886761/scratchpad/assets/tvc_spotted_wilt_viru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767328"/>
            <a:ext cx="1883664" cy="188366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705088" y="4224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spotted wilt virus</a:t>
            </a:r>
            <a:endParaRPr lang="en-US" sz="1250" dirty="0"/>
          </a:p>
        </p:txBody>
      </p:sp>
      <p:sp>
        <p:nvSpPr>
          <p:cNvPr id="27" name="Text 19"/>
          <p:cNvSpPr txBox="1"/>
          <p:nvPr/>
        </p:nvSpPr>
        <p:spPr>
          <a:xfrm>
            <a:off x="8705088" y="47183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9738360" y="1371600"/>
            <a:ext cx="1901952" cy="4736592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992124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data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hard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9921240" y="2231136"/>
            <a:ext cx="157276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Open-field clutter and soil in frame</a:t>
            </a:r>
            <a:endParaRPr lang="en-US" sz="1050" dirty="0"/>
          </a:p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Harsh, uneven sunlight</a:t>
            </a:r>
            <a:endParaRPr lang="en-US" sz="1050" dirty="0"/>
          </a:p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and occluded leaves</a:t>
            </a:r>
            <a:endParaRPr lang="en-US" sz="1050" dirty="0"/>
          </a:p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lesions per image</a:t>
            </a:r>
            <a:endParaRPr lang="en-US" sz="1050" dirty="0"/>
          </a:p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imbalance: 18,316 leaf-miner boxes vs 237 potassium</a:t>
            </a:r>
            <a:endParaRPr lang="en-US" sz="105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5870448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Tomato-Village frames, cropped around one ground-truth box per class (red outline).</a:t>
            </a:r>
            <a:endParaRPr lang="en-US" sz="105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Dataset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EXACTLY WHAT WAS RUN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TomaNet-C  (PlantVillage)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TomaNet-D  (Tomato-Village)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TomaNet-C-n — 1.32 M parameters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TomaNet-D-m — 30.79 M parameters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10-class leaf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6-class object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resolution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× 224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× 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learning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 (budget / actual)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/ stopped at 83, patience 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/ stopped at 85, patience 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scratch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warm-started from the trained TomaNet-C trunk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leaf-safe preset (flips, mild colour jitter)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leaf-safe preset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/ seed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GPU, 8 workers, seed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GPU, 8 workers, seed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/ 10 / 20 — 2,692 test images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/ 10 / 20, leakage-corrected — 3,536 test images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64008" marB="64008" anchor="t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Dataset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CLASSIFICATION: THE TOMABLOCK EXPERIMENT SUCCEEDED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TomaNet-C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961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99.63%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02996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14016" y="137160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05456" y="149961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99.61%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487168" y="202996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9392" y="137160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70832" y="149961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99.60%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352544" y="202996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precision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4768" y="137160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49961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99.63%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02996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recall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10144" y="137160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01584" y="149961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0.9956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083296" y="202996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0" y="137160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66960" y="149961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0.9956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948672" y="202996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1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48640" y="2724912"/>
          <a:ext cx="69494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7726680" y="2724912"/>
            <a:ext cx="3913632" cy="3383280"/>
          </a:xfrm>
          <a:prstGeom prst="roundRect">
            <a:avLst>
              <a:gd name="adj" fmla="val 1622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64424" y="2889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shows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964424" y="3255264"/>
            <a:ext cx="34930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TomaNet-C is highly accurate: 10 wrong predictions out of 2,692 test images (0.4%).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10 classes lands above 0.988 F1 — no weak class, no class collapsed.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and MCC both 0.9956, so the score is not an artefact of class imbalance.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result that validates TomaBlock: PConv + Coordinate Attention + re-parameterisation train stably and lose nothing at 1.32 M parameters.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it as a correctness proof, not a record claim — PlantVillage is already saturated at 99.4–99.96% in the literature.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RESULTS: EVERY ONE OF THE 10 MISTAKES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TomaNet-C Predictions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492" y="1330452"/>
            <a:ext cx="7717536" cy="4160520"/>
          </a:xfrm>
          <a:prstGeom prst="roundRect">
            <a:avLst>
              <a:gd name="adj" fmla="val 1099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5" name="Image 0" descr="/tmp/claude-1001/-home-devarshi-Desktop-tomato/ed5af88f-2111-467e-aed2-d77423886761/scratchpad/assets/pv_mistak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35240" cy="40782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77840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errors from the 2,692-image test split, shown in full. Red frame = wrong; predicted class and confidence above, ground truth below.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458200" y="1371600"/>
            <a:ext cx="1517904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49640" y="1499616"/>
            <a:ext cx="133502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2,692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531352" y="2029968"/>
            <a:ext cx="13716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122408" y="1371600"/>
            <a:ext cx="1517904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13848" y="1499616"/>
            <a:ext cx="133502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10195560" y="2029968"/>
            <a:ext cx="13716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· 0.4%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458200" y="2633472"/>
            <a:ext cx="3182112" cy="3474720"/>
          </a:xfrm>
          <a:prstGeom prst="roundRect">
            <a:avLst>
              <a:gd name="adj" fmla="val 1724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77656" y="2798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still fails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677656" y="3163824"/>
            <a:ext cx="276148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target_spot ↔ spider_mites: 3 of the 10 errors — both present as fine stippling.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late_blight → septoria / yellow curl: visually overlapping lesion patterns.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healthy leaf read as late_blight, and one tiny curled leaf as bacterial_spot.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mistake is between diseases a human agronomist also confuses — none are absurd, which rules out a label-mapping bug.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RESULTS: TRAINING BEHAVIOUR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TomaNet-C Convergence and Confusion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532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" y="3822192"/>
          <a:ext cx="5532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359652" y="1330452"/>
            <a:ext cx="5321808" cy="4014216"/>
          </a:xfrm>
          <a:prstGeom prst="roundRect">
            <a:avLst>
              <a:gd name="adj" fmla="val 1139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7" name="Image 0" descr="/home/devarshi/Desktop/tomato/tomanet/runs/plantvillage_tomanetn/confusion_matrix_normaliz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239512" cy="3931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0" y="5394960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confusion matrix — test split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6400800" y="5614416"/>
            <a:ext cx="5239512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620256" y="5687568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passes 90% by epoch 5 and 99% by epoch 33; validation loss keeps falling with training loss, so there is no overfitting. Early stopping fired at epoch 83.</a:t>
            </a:r>
            <a:endParaRPr lang="en-US" sz="115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DETECTION: UNDER EXPERIMENT AND TESTING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TomaNet-D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426464"/>
            <a:ext cx="1057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TomaNet-D trains end to end and produces correct box predictions, but its accuracy is still being improved. The numbers below are a working checkpoint, not a final result.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3113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E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0.392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76148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14016" y="210312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05456" y="223113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E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0.178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487168" y="276148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79392" y="210312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0832" y="223113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0.459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352544" y="276148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44768" y="210312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6208" y="223113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0.400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76148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10144" y="210312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01584" y="223113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3,536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8083296" y="276148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75520" y="2103120"/>
            <a:ext cx="1655064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66960" y="2231136"/>
            <a:ext cx="147218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9948672" y="2761488"/>
            <a:ext cx="1508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so far</a:t>
            </a:r>
            <a:endParaRPr lang="en-US" sz="11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48640" y="3456432"/>
          <a:ext cx="69494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7726680" y="3456432"/>
            <a:ext cx="3913632" cy="2651760"/>
          </a:xfrm>
          <a:prstGeom prst="roundRect">
            <a:avLst>
              <a:gd name="adj" fmla="val 2069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64424" y="3602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result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964424" y="3931920"/>
            <a:ext cx="349300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well-represented classes already work: magnesium 0.550, spotted wilt 0.542, late blight 0.437, leaf miner 0.433.</a:t>
            </a:r>
            <a:endParaRPr lang="en-US" sz="105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rare classes drag the mean down: nitrogen 0.157 (489 boxes) and potassium 0.234 (237 boxes) against 18,316 leaf-miner boxes.</a:t>
            </a:r>
            <a:endParaRPr lang="en-US" sz="105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best on this dataset is mAP@0.5 0.936 (large model) and 0.864 (phone-sized) — that is the target we are tuning towards.</a:t>
            </a:r>
            <a:endParaRPr lang="en-US" sz="105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pipeline, the shared trunk and the warm-start all work; what remains is optimisation, not architecture.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RESULTS: BOXES ON REAL FIELD PHOTOS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TomaNet-D Detections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492" y="1330452"/>
            <a:ext cx="3648456" cy="3648456"/>
          </a:xfrm>
          <a:prstGeom prst="roundRect">
            <a:avLst>
              <a:gd name="adj" fmla="val 1253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5" name="Image 0" descr="/tmp/claude-1001/-home-devarshi-Desktop-tomato/ed5af88f-2111-467e-aed2-d77423886761/scratchpad/assets/tv_pred_leaf_mi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56616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065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leaf miner · 5 boxes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3766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mine trails on a single leaf, held in-hand against a cluttered field background.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83964" y="1330452"/>
            <a:ext cx="3648456" cy="3648456"/>
          </a:xfrm>
          <a:prstGeom prst="roundRect">
            <a:avLst>
              <a:gd name="adj" fmla="val 1253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9" name="Image 1" descr="/tmp/claude-1001/-home-devarshi-Desktop-tomato/ed5af88f-2111-467e-aed2-d77423886761/scratchpad/assets/tv_pred_magnesium_deficienc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371600"/>
            <a:ext cx="3566160" cy="3566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25112" y="5065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magnesium deficiency + leaf miner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325112" y="53766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problems on the same plant, reported together — the multi-disease case the literature misses.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060436" y="1330452"/>
            <a:ext cx="3648456" cy="3648456"/>
          </a:xfrm>
          <a:prstGeom prst="roundRect">
            <a:avLst>
              <a:gd name="adj" fmla="val 1253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13" name="Image 2" descr="/tmp/claude-1001/-home-devarshi-Desktop-tomato/ed5af88f-2111-467e-aed2-d77423886761/scratchpad/assets/tv_pred_spotted_wilt_viru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1371600"/>
            <a:ext cx="3566160" cy="35661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01584" y="5065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spotted wilt virus · 3 boxes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8101584" y="53766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Whole-plant view: several infected leaves boxed separately in one pass.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07161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TomaNet-D-m on held-out test images at confidence threshold 0.35. Colour encodes class; the number is the score.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RESULTS: THE SAME IMAGE, SIDE BY SIDE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 vs. TomaNet-D Prediction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 · Jaipur_Pots (394)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93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— 4 annotated boxes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12064" y="1865376"/>
            <a:ext cx="2706624" cy="2706624"/>
          </a:xfrm>
          <a:prstGeom prst="roundRect">
            <a:avLst>
              <a:gd name="adj" fmla="val 1689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7" name="Image 0" descr="/tmp/claude-1001/-home-devarshi-Desktop-tomato/ed5af88f-2111-467e-aed2-d77423886761/scratchpad/assets/gtvp_a_g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01952"/>
            <a:ext cx="2633472" cy="2633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246120" y="16093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TomaNet-D — 5 predicted boxes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9544" y="1865376"/>
            <a:ext cx="2706624" cy="2706624"/>
          </a:xfrm>
          <a:prstGeom prst="roundRect">
            <a:avLst>
              <a:gd name="adj" fmla="val 1689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10" name="Image 1" descr="/tmp/claude-1001/-home-devarshi-Desktop-tomato/ed5af88f-2111-467e-aed2-d77423886761/scratchpad/assets/gtvp_a_pr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901952"/>
            <a:ext cx="2633472" cy="26334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4700016"/>
            <a:ext cx="5330952" cy="1207008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8096" y="4828032"/>
            <a:ext cx="4892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correct on every box (all leaf miner) and all four annotated mines are found. The model adds a fifth box at 0.37 on a leaf the annotator left unmarked — counted as a false positive even though the symptom is visible there.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1316736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 · IMG20220324091033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263640" y="16093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— 4 annotated boxes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27064" y="1865376"/>
            <a:ext cx="2706624" cy="2706624"/>
          </a:xfrm>
          <a:prstGeom prst="roundRect">
            <a:avLst>
              <a:gd name="adj" fmla="val 1689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16" name="Image 2" descr="/tmp/claude-1001/-home-devarshi-Desktop-tomato/ed5af88f-2111-467e-aed2-d77423886761/scratchpad/assets/gtvp_b_g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01952"/>
            <a:ext cx="2633472" cy="2633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61120" y="16093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TomaNet-D — 3 predicted boxes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924544" y="1865376"/>
            <a:ext cx="2706624" cy="2706624"/>
          </a:xfrm>
          <a:prstGeom prst="roundRect">
            <a:avLst>
              <a:gd name="adj" fmla="val 1689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19" name="Image 3" descr="/tmp/claude-1001/-home-devarshi-Desktop-tomato/ed5af88f-2111-467e-aed2-d77423886761/scratchpad/assets/gtvp_b_pre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1901952"/>
            <a:ext cx="2633472" cy="263347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63640" y="4700016"/>
            <a:ext cx="5330952" cy="1207008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483096" y="4828032"/>
            <a:ext cx="4892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classes present are recovered: magnesium deficiency at 0.90 on the main leaf and leaf miner at 0.49 inside it. One small magnesium box in the upper canopy is missed — the kind of small, low-contrast instance the tuning plan targets.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0533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labels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1572768" y="60533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42A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1572768" y="60533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1956816" y="6053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blight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73552" y="60533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BDBEB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3273552" y="60533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3657600" y="6053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miner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974336" y="60533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F3F3F3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974336" y="60533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850" dirty="0"/>
          </a:p>
        </p:txBody>
      </p:sp>
      <p:sp>
        <p:nvSpPr>
          <p:cNvPr id="31" name="Text 25"/>
          <p:cNvSpPr txBox="1"/>
          <p:nvPr/>
        </p:nvSpPr>
        <p:spPr>
          <a:xfrm>
            <a:off x="5358384" y="6053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magnesium deficiency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6675120" y="60533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0DFB7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675120" y="60533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</a:t>
            </a:r>
            <a:endParaRPr lang="en-US" sz="850" dirty="0"/>
          </a:p>
        </p:txBody>
      </p:sp>
      <p:sp>
        <p:nvSpPr>
          <p:cNvPr id="34" name="Text 28"/>
          <p:cNvSpPr txBox="1"/>
          <p:nvPr/>
        </p:nvSpPr>
        <p:spPr>
          <a:xfrm>
            <a:off x="7059168" y="6053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deficiency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8375904" y="60533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111F68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8375904" y="60533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850" dirty="0"/>
          </a:p>
        </p:txBody>
      </p:sp>
      <p:sp>
        <p:nvSpPr>
          <p:cNvPr id="37" name="Text 31"/>
          <p:cNvSpPr txBox="1"/>
          <p:nvPr/>
        </p:nvSpPr>
        <p:spPr>
          <a:xfrm>
            <a:off x="8759952" y="6053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 deficiency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10076688" y="60533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FF6FD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10076688" y="60533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850" dirty="0"/>
          </a:p>
        </p:txBody>
      </p:sp>
      <p:sp>
        <p:nvSpPr>
          <p:cNvPr id="40" name="Text 34"/>
          <p:cNvSpPr txBox="1"/>
          <p:nvPr/>
        </p:nvSpPr>
        <p:spPr>
          <a:xfrm>
            <a:off x="10460736" y="6053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spotted wilt virus</a:t>
            </a:r>
            <a:endParaRPr lang="en-US" sz="950" dirty="0"/>
          </a:p>
        </p:txBody>
      </p:sp>
      <p:sp>
        <p:nvSpPr>
          <p:cNvPr id="42" name="Text 35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RESULTS: THE TUNING PLAN, IN ORDER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TomaNet-D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603504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426464"/>
            <a:ext cx="10579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TomaNet-D is in the experiment and testing phase. Accuracy is expected to rise as we work down this list — architecture changes are the last resort, not the first.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420624" cy="420624"/>
          </a:xfrm>
          <a:prstGeom prst="ellipse">
            <a:avLst/>
          </a:prstGeom>
          <a:solidFill>
            <a:srgbClr val="6E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49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2212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Hyper-parameter tuning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194560"/>
            <a:ext cx="7434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the initial learning rate and schedule, warm-up length, optimiser momentum and weight decay. The current run used lr₀ = 0.01 with no sweep behind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420624" cy="420624"/>
          </a:xfrm>
          <a:prstGeom prst="ellipse">
            <a:avLst/>
          </a:prstGeom>
          <a:solidFill>
            <a:srgbClr val="6E6E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" y="30358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size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3017520"/>
            <a:ext cx="7434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at 16 and 64 against the current 32. At 800 × 800 the batch size drives both the BatchNorm statistics and the effective learning rate.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420624" cy="420624"/>
          </a:xfrm>
          <a:prstGeom prst="ellipse">
            <a:avLst/>
          </a:prstGeom>
          <a:solidFill>
            <a:srgbClr val="6E6E6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38587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 budget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840480"/>
            <a:ext cx="7434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stopped at epoch 85 of 100 with patience 60, and mAP was still climbing — extend the budget and re-check the early-stopping point.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718304"/>
            <a:ext cx="420624" cy="420624"/>
          </a:xfrm>
          <a:prstGeom prst="ellipse">
            <a:avLst/>
          </a:prstGeom>
          <a:solidFill>
            <a:srgbClr val="6E6E6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718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" y="4681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4663440"/>
            <a:ext cx="7434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 nitrogen and potassium deficiency, or reweight the loss. 237 potassium boxes against 18,316 leaf-miner boxes is the single clearest cause of the low mean.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541264"/>
            <a:ext cx="420624" cy="42062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541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" y="55046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Pre-process Tomato-Village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5486400"/>
            <a:ext cx="7434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tuning alone is not enough: tighten annotation quality, filter unusable frames, normalise illumination, and revisit the augmentation preset for field imagery.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Results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WHAT THIS PROJECT HAS ESTABLISHED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4407408"/>
          </a:xfrm>
          <a:prstGeom prst="roundRect">
            <a:avLst>
              <a:gd name="adj" fmla="val 1538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91056"/>
            <a:ext cx="365760" cy="3657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15727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03120"/>
            <a:ext cx="30723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TomaBlock works. PConv + Coordinate Attention + re-parameterisation train stably and lose nothing: 99.63% accuracy, 99.61% macro-F1, κ = MCC = 0.9956 at 1.32 M parameters.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trunk really is shared. The classification and detection trunks are the same layer list, asserted by an automated test, and the trained classifier successfully warm-started the detector.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trustworthy. The Tomato-Village author split leaks augmented duplicates across train and test; our corrected split keeps every copy of a photo on one side.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371600"/>
            <a:ext cx="3566160" cy="4407408"/>
          </a:xfrm>
          <a:prstGeom prst="roundRect">
            <a:avLst>
              <a:gd name="adj" fmla="val 1538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1591056"/>
            <a:ext cx="365760" cy="365760"/>
          </a:xfrm>
          <a:prstGeom prst="ellipse">
            <a:avLst/>
          </a:prstGeom>
          <a:solidFill>
            <a:srgbClr val="6E6E6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56632" y="15727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progress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103120"/>
            <a:ext cx="30723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TomaNet-D detects correctly on real field photos but at mAP@0.5 0.392 against a published best of 0.936 — an optimisation gap, with the pipeline itself verified working.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(18,316 leaf-miner boxes vs 237 potassium) is the clearest single cause, and is being addressed by tuning and resampling before any change to the architecture.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371600"/>
            <a:ext cx="3566160" cy="4407408"/>
          </a:xfrm>
          <a:prstGeom prst="roundRect">
            <a:avLst>
              <a:gd name="adj" fmla="val 1538"/>
            </a:avLst>
          </a:prstGeom>
          <a:solidFill>
            <a:srgbClr val="F2F2F2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9328" y="1591056"/>
            <a:ext cx="365760" cy="3657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33104" y="15727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103120"/>
            <a:ext cx="30723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lightweight design answers both questions farmers actually ask — “what disease is this?” and “where is it?” — instead of needing two separate models.</a:t>
            </a:r>
            <a:endParaRPr lang="en-US" sz="1150" dirty="0"/>
          </a:p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 scales (n / s / m) let the same design run on a phone or on a server without redesign, because the deployed block folds to a single path.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Conclusion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Enhancement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12664" cy="1463040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91056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572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the TomaNet-D sweep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920240"/>
            <a:ext cx="4315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tuning plan and report mAP@0.5 against the published Tomato-Village baselines at matched model size.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7648" y="1371600"/>
            <a:ext cx="5312664" cy="1463040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5392" y="1591056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572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benchmark comparison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920240"/>
            <a:ext cx="4315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dataset, same split, same seed against YOLOv8–YOLOv12 — the only comparison the literature accepts.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5312664" cy="1463040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200400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31821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every run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3529584"/>
            <a:ext cx="4315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seeds per configuration, because +1 to +4 mAP on a single seed is within normal run-to-run noise.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7648" y="2980944"/>
            <a:ext cx="5312664" cy="1463040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5392" y="3200400"/>
            <a:ext cx="402336" cy="402336"/>
          </a:xfrm>
          <a:prstGeom prst="ellipse">
            <a:avLst/>
          </a:prstGeom>
          <a:solidFill>
            <a:srgbClr val="5E5E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65392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1821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Cross-domain generalisation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529584"/>
            <a:ext cx="4315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PlantVillage, test on real field photos, and report the drop explicitly instead of only the lab number.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90288"/>
            <a:ext cx="5312664" cy="1463040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4809744"/>
            <a:ext cx="402336" cy="402336"/>
          </a:xfrm>
          <a:prstGeom prst="ellipse">
            <a:avLst/>
          </a:prstGeom>
          <a:solidFill>
            <a:srgbClr val="5E5E5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6384" y="4809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47914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as a number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53312" y="5138928"/>
            <a:ext cx="4315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how well a Grad-CAM heat-map overlaps the annotated lesion, rather than showing a picture and asserting it looks right.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27648" y="4590288"/>
            <a:ext cx="5312664" cy="1463040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392" y="4809744"/>
            <a:ext cx="402336" cy="402336"/>
          </a:xfrm>
          <a:prstGeom prst="ellipse">
            <a:avLst/>
          </a:prstGeom>
          <a:solidFill>
            <a:srgbClr val="5E5E5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65392" y="4809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47914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deployment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138928"/>
            <a:ext cx="4315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the re-parameterised branches, export, and measure real latency and memory on a phone.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Conclusion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(1 OF 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371600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Wspanialy, P., &amp; Moussa, M. (2020). A detection and severity estimation system for generic diseases of tomato greenhouse plants. Computers and Electronics in Agriculture, 178, 105701.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019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901952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Thuseethan, S., Vigneshwaran, P., Charles, J., &amp; Wimalasooriya, C. (2024). Siamese network-based lightweight framework for tomato leaf disease recognition. Computers, 13(12), 323.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3230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432304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Oni, M. K., &amp; Prama, T. T. (2025). Optimized custom CNN for real-time tomato leaf disease detection. arXiv:2502.18521.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626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962656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Thai, H. T., &amp; Le, K. H. (2025). MobileH-Transformer: Enabling real-time leaf disease detection using a hybrid deep learning approach for smart agriculture. Crop Protection, 189, 107002.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930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493008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Karegowda, A. G., Jain, R., &amp; Devika, G. (2021). State-of-the-art deep learning based tomato leaf disease detection. ICIIC 2021, 303–311. Atlantis Press.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4023360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Hosen, M. D., &amp; Islam, M. H. (2025). Aggrotech: Leveraging deep learning for sustainable tomato disease management. arXiv:2501.12052.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5371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4553712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Anu, A., Solanki, K., &amp; Dhankar, A. (2024). A novel multi-class deep learning approach for tomato leaf disease detection system. IJISAE, 12(6s), 187–196.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8406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084064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N. K., Gautam, V., Anand, A., Aljahdali, H. M., Villar, S. G., Anand, D., … &amp; Kadry, S. (2021). Early detection and classification of tomato leaf disease using high-performance deep neural network. Sensors, 21(23), 7987.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1441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5614416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H. C., Widodo, A. M., Wisnujati, A., Rahaman, M., Lin, J. C. W., Chen, L., &amp; Weng, C. E. (2022). AlexNet convolutional neural network for disease detection and classification of tomato leaf. Electronics, 11(6), 951.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References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(2 OF 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371600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Nyasulu, C., Diattara, A., Traore, A., Ba, C., Diedhiou, P. M., Sy, Y., … &amp; Peluffo-Ordóñez, D. H. (2023). A comparative study of machine learning-based classification of tomato fungal diseases: Application of GLCM texture features. Heliyon, 9(11).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019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901952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Harakannanavar, S. S., Rudagi, J. M., Puranikmath, V. I., Siddiqua, A., &amp; Pramodhini, R. (2022). Plant leaf disease detection using computer vision and machine learning algorithms. Global Transitions Proceedings, 3(1), 305–310.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3230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432304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Maeda-Gutiérrez, V., Galvan-Tejada, C. E., Zanella-Calzada, L. A., Celaya-Padilla, J. M., Galván-Tejada, J. I., Gamboa-Rosales, H., … &amp; Olvera-Olvera, C. A. (2020). Comparison of convolutional neural network architectures for classification of tomato plant diseases. Applied Sciences, 10(4), 1245.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626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962656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Hussein, A. H. A., Adnan, M. M., Hemalatha, K. L., Malathy, V., &amp; Rajesh, N. (2023). Coordinate attention mechanism with convolutional neural network for tomato leaf diseases. ICIICS 2023, 1–5. IEEE.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930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493008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Abbas, A., Jain, S., Gour, M., &amp; Vankudothu, S. (2021). Tomato plant disease detection using transfer learning with C-GAN synthetic images. Computers and Electronics in Agriculture, 187, 106279.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4023360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Ahmad, M., Abdullah, M., Moon, H., &amp; Han, D. (2021). Plant disease detection in imbalanced datasets using efficient convolutional neural networks with stepwise transfer learning. IEEE Access, 9, 140565–140580.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5371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4553712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Al-Shamasneh, A. R., &amp; Ibrahim, R. W. (2024). Classification of tomato leaf images for detection of plant disease using conformable polynomials image features. MethodsX, 13, 102844.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8406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084064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X., Liu, J., &amp; Liu, G. (2021). Diseases detection of occlusion and overlapping tomato leaves based on deep learning. Frontiers in Plant Science, 12, 792244.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1441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5614416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D., Yin, Z., Wu, Z., &amp; Liu, Q. (2021). Classification for tomato disease with imbalanced samples based on TD-MobileNetV2. ICISPC 2021, 35–39. IEEE.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References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(3 OF 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371600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Shoaib, M., Hussain, T., Shah, B., Ullah, I., Shah, S. M., Ali, F., &amp; Park, S. H. (2022). Deep learning-based segmentation and classification of leaf images for detection of tomato plant disease. Frontiers in Plant Science, 13, 1031748.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019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901952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Gangwar, A., Dhaka, V. S., Rani, G., Khandelwal, S., Zumpano, E., &amp; Vocaturo, E. (2024). Time and space efficient multi-model convolution vision transformer for tomato disease detection from leaf images with varied backgrounds. Computers, Materials &amp; Continua, 79(1).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3230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432304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Karim, M. J., Goni, M. O. F., Nahiduzzaman, M., Ahsan, M., Haider, J., &amp; Kowalski, M. (2024). Enhancing agriculture through real-time grape leaf disease classification via an edge device with a lightweight CNN architecture and Grad-CAM. Scientific Reports, 14(1), 16022.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626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962656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Masud, K. I., Rahman, M. M., Jannat, M. R., Hasan, M. M., Islam, M. S., &amp; Rahman, M. O. (2024). A CNN-based model to detect and classify the tomato leaf disease using transfer learning. ICCIT 2024, 2823–2828. IEEE.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930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493008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Çatal Reis, H. (2024). Advanced tomato disease detection using the fusion of multiple deep-learning and meta-learning techniques. Journal of Crop Health, 76(6), 1553–1567.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4023360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Junare, C. B., Ghanokar, V. S., Khandare, R. M., Koche, S. P., &amp; Pagrut, S. B. (2024). Automated plant leaf disease detection and localization using Mask R-CNN.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5371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4553712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J., Kao, S., He, H., Zhuo, W., Wen, S., Lee, C. H., &amp; Chan, S. H. G. (2023). Run, don't walk: Chasing higher FLOPS for faster neural networks (FasterNet). CVPR 2023. arXiv:2303.03667.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8406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084064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Hou, Q., Zhou, D., &amp; Feng, J. (2021). Coordinate attention for efficient mobile network design. CVPR 2021. arXiv:2103.02907.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1441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5614416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Ding, X., Zhang, X., Ma, N., Han, J., Ding, G., &amp; Sun, J. (2021). RepVGG: Making VGG-style ConvNets great again. CVPR 2021. arXiv:2101.03697.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References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(4 OF 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371600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Mohanty, S. P., Hughes, D. P., &amp; Salathé, M. (2016). Using deep learning for image-based plant disease detection. Frontiers in Plant Science, 7, 1419.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019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901952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Noyan, M. A. (2022). Uncovering bias in the PlantVillage dataset. arXiv:2206.04374.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3230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432304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Jelali, M. (2024). Deep learning for tomato disease detection using real-field datasets: A review. Frontiers in Plant Science.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626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962656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Ramos, L., &amp; Sappa, A. D. (2025). Benchmarking YOLOv8–YOLOv12 for tomato disease detection. Scientific Reports. doi:10.1038/s41598-025-11064-0.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930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493008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Fu, Y., Wang, X., Wang, L., &amp; Sun, Y. (2025). PMJDM: Joint species classification and disease detection. Frontiers in Plant Science.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References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0" y="64190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566160"/>
            <a:ext cx="4572000" cy="4572000"/>
          </a:xfrm>
          <a:prstGeom prst="ellipse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1188720"/>
            <a:ext cx="640080" cy="64008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97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7033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D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and suggestions on the TomaNet-D tuning plan are especially welcome.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TomaNet</dc:title>
  <dc:subject>PptxGenJS Presentation</dc:subject>
  <dc:creator>TomaNet project</dc:creator>
  <cp:lastModifiedBy>TomaNet project</cp:lastModifiedBy>
  <cp:revision>1</cp:revision>
  <dcterms:created xsi:type="dcterms:W3CDTF">2026-09-18T04:20:17Z</dcterms:created>
  <dcterms:modified xsi:type="dcterms:W3CDTF">2026-09-18T04:20:17Z</dcterms:modified>
</cp:coreProperties>
</file>